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8" r:id="rId3"/>
    <p:sldId id="259" r:id="rId4"/>
    <p:sldId id="260" r:id="rId5"/>
    <p:sldId id="262" r:id="rId6"/>
    <p:sldId id="263" r:id="rId7"/>
    <p:sldId id="264" r:id="rId8"/>
    <p:sldId id="265" r:id="rId9"/>
    <p:sldId id="266" r:id="rId10"/>
    <p:sldId id="267" r:id="rId11"/>
    <p:sldId id="271" r:id="rId12"/>
    <p:sldId id="268" r:id="rId13"/>
    <p:sldId id="269" r:id="rId14"/>
    <p:sldId id="270"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3" d="100"/>
          <a:sy n="53" d="100"/>
        </p:scale>
        <p:origin x="36" y="9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Split</c:v>
                </c:pt>
              </c:strCache>
            </c:strRef>
          </c:tx>
          <c:spPr>
            <a:solidFill>
              <a:schemeClr val="accent1"/>
            </a:solidFill>
            <a:ln w="9525" cap="flat">
              <a:solidFill>
                <a:srgbClr val="F9F9F9"/>
              </a:solidFill>
              <a:prstDash val="solid"/>
              <a:round/>
            </a:ln>
            <a:effectLst/>
          </c:spPr>
          <c:dPt>
            <c:idx val="0"/>
            <c:bubble3D val="0"/>
            <c:spPr>
              <a:solidFill>
                <a:srgbClr val="1E2761"/>
              </a:solidFill>
              <a:effectLst/>
            </c:spPr>
            <c:extLst>
              <c:ext xmlns:c16="http://schemas.microsoft.com/office/drawing/2014/chart" uri="{C3380CC4-5D6E-409C-BE32-E72D297353CC}">
                <c16:uniqueId val="{00000001-552A-4824-BA36-676A9C3BA14A}"/>
              </c:ext>
            </c:extLst>
          </c:dPt>
          <c:dPt>
            <c:idx val="1"/>
            <c:bubble3D val="0"/>
            <c:spPr>
              <a:solidFill>
                <a:srgbClr val="2563EB"/>
              </a:solidFill>
              <a:effectLst/>
            </c:spPr>
            <c:extLst>
              <c:ext xmlns:c16="http://schemas.microsoft.com/office/drawing/2014/chart" uri="{C3380CC4-5D6E-409C-BE32-E72D297353CC}">
                <c16:uniqueId val="{00000003-552A-4824-BA36-676A9C3BA14A}"/>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552A-4824-BA36-676A9C3BA14A}"/>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552A-4824-BA36-676A9C3BA14A}"/>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Training (75%)</c:v>
                </c:pt>
                <c:pt idx="1">
                  <c:v>Test (25%)</c:v>
                </c:pt>
              </c:strCache>
            </c:strRef>
          </c:cat>
          <c:val>
            <c:numRef>
              <c:f>Sheet1!$B$2:$B$3</c:f>
              <c:numCache>
                <c:formatCode>General</c:formatCode>
                <c:ptCount val="2"/>
                <c:pt idx="0">
                  <c:v>75</c:v>
                </c:pt>
                <c:pt idx="1">
                  <c:v>25</c:v>
                </c:pt>
              </c:numCache>
            </c:numRef>
          </c:val>
          <c:extLst>
            <c:ext xmlns:c16="http://schemas.microsoft.com/office/drawing/2014/chart" uri="{C3380CC4-5D6E-409C-BE32-E72D297353CC}">
              <c16:uniqueId val="{00000004-552A-4824-BA36-676A9C3BA14A}"/>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007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chào thầy và các bạn. Em tên là Phương Thị Ánh Nguyệt, lớp K58KTPM. Hôm nay em xin trình bày bài tiểu luận môn Khoa học Dữ liệu với đề tài 'Phân khúc khách hàng trung tâm thương mại bằng phương pháp phân cụm nhằm hỗ trợ chiến lược marketing'.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Vấn đề đặt ra là: ngày nay các trung tâm thương mại phục vụ rất nhiều nhóm khách hàng khác nhau. Nếu áp dụng một chiến lược chung cho tất cả thì kém hiệu quả. Giải pháp của đề tài là dùng thuật toán K-Means để tự động phân nhóm, sau đó dùng Cây quyết định để dự đoán khách mới thuộc nhóm nào.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dữ liệu gồm 200 khách hàng với 5 thuộc tính. Sau khi kiểm tra, dữ liệu sạch hoàn toàn: không có giá trị thiếu, không có dòng trùng lặp. Thuộc tính quan trọng nhất là Thu nhập và Điểm chi tiêu – hai chiều sẽ dùng để phân cụm.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tài dựa trên 4 nền tảng lý thuyết. Học không giám sát dùng cho K-Means vì dữ liệu chưa có nhãn phân khúc sẵn. Sau khi K-Means tạo nhãn, em dùng học có giám sát với Cây quyết định để dự đoán khách mới. Bước chuẩn hóa Z-score là bắt buộc trước K-Means để tránh cột có giá trị lớn lấn át.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K-Means tạo ra nhãn nhóm cho 200 khách, em dùng Cây quyết định để học từ các nhãn đó. Dữ liệu chia 75% train, 25% test. Mô hình đạt 86% độ chính xác. Quan trọng nhất: Thu nhập đóng góp 70%, Tuổi 30%, còn Giới tính 0% – kết quả này hoàn toàn khớp với phân tích EDA ở câu hỏi 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1: Khách hàng chủ yếu là nữ giới (56%), tập trung độ tuổi 30–40. Câu 2: Phần lớn thuộc tầng lớp trung lưu, thu nhập 40–80k USD. Đây là đặc điểm quan trọng để nhận xét về cơ cấu khách hàng của trung tâm.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3 cho thấy giới tính không ảnh hưởng đến chi tiêu – điều này giải thích tại sao Feature Importance của Cây quyết định cho Giới tính = 0%. Câu 4 cho thấy người trẻ chi nhiều hơn một chút (tương quan -0.327). Câu 5 là phát hiện then chốt: thu nhập và chi tiêu gần như không liên quan tuyến tính (0.01). Đây là lý do bắt buộc phải dùng K-Means để phân cụm, không thể dùng hồi quy thông thường.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K-Means chia ra 5 nhóm rõ rệt. Nhóm 1 là quan trọng nhất: thu nhập cao 87k, chi tiêu cao 82 điểm – đây là nhóm VIP cần ưu tiên. Nhóm 3 thu nhập cao 88k nhưng chi tiêu chỉ 17 điểm – nhóm tiềm năng cần kích cầu. Nhóm 2 người trẻ, thu nhập thấp nhưng chi tiêu mạnh 79 điểm – phù hợp sản phẩm trendy. Nhóm 0 đông nhất (81 người) là khách phổ thông cần duy trì.</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biểu đồ trực quan hóa kết quả phân cụm. Nhìn vào biểu đồ ta thấy rõ 5 cụm tách biệt nhau, không bị chồng lấn, chứng tỏ K-Means đã phân khúc tốt. Quan trọng là không có đường thẳng rõ ràng từ trái qua phải – xác nhận thu nhập cao không đồng nghĩa chi tiêu nhiều.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Cây quyết định đạt 86% trên tập test – rất tốt với bộ dữ liệu 200 mẫu. Feature importance xác nhận: Thu nhập đóng góp 70%, Tuổi 30%, Giới tính 0%. Thử với khách hàng giả định: 30 tuổi, nam, thu nhập 70k USD → mô hình tự động phân vào Nhóm 1 (VIP), từ đó bộ phận marketing biết ngay cần chào món dịch vụ cao cấp.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5 nhóm đã xác định, em đề xuất 5 chiến lược marketing tương ứng. Quan trọng nhất là Nhóm 1 (VIP) và Nhóm 3 (giàu nhưng dè dặt) – cả hai đều có thu nhập cao, nhưng cần cách tiếp cận khác nhau hoàn toàn. Nhóm 1 cần giữ chân bằng đặc quyền, Nhóm 3 cần được kích thích nhu cầu.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tài còn một số hạn chế: dữ liệu nhỏ và thuộc tính chưa đa dạng. Hướng phát triển là thu thập Big Data từ hệ thống thực tế, thử nghiệm thuật toán mạnh hơn như XGBoost, và tích hợp vào hệ thống CRM để phân khúc tự động theo thời gian thực.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đề tài đã hoàn thành 4 mục tiêu: (1) Thu thập và làm sạch dữ liệu 200 mẫu. (2) Phân tích EDA 5 câu hỏi, phát hiện thu nhập và chi tiêu không tương quan tuyến tính. (3) Phân cụm K-Means thành 5 nhóm rõ rệt với đặc điểm hành vi khác nhau. (4) Xây dựng Cây quyết định đạt 86% chính xác để dự đoán khách mới. Em xin cảm ơn thầy và các bạn đã lắng nghe. Em sẵn sàng nhận câu hỏi.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6583680" y="0"/>
            <a:ext cx="2560320" cy="5143500"/>
          </a:xfrm>
          <a:prstGeom prst="rect">
            <a:avLst/>
          </a:prstGeom>
          <a:solidFill>
            <a:srgbClr val="0D1B4B"/>
          </a:solidFill>
          <a:ln w="12700">
            <a:solidFill>
              <a:srgbClr val="0D1B4B"/>
            </a:solidFill>
            <a:prstDash val="solid"/>
          </a:ln>
        </p:spPr>
      </p:sp>
      <p:sp>
        <p:nvSpPr>
          <p:cNvPr id="3" name="Text 1"/>
          <p:cNvSpPr/>
          <p:nvPr/>
        </p:nvSpPr>
        <p:spPr>
          <a:xfrm>
            <a:off x="502920" y="1005840"/>
            <a:ext cx="5943600" cy="68580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PHÂN KHÚC KHÁCH HÀNG</a:t>
            </a:r>
            <a:endParaRPr lang="en-US" sz="3000" dirty="0"/>
          </a:p>
        </p:txBody>
      </p:sp>
      <p:sp>
        <p:nvSpPr>
          <p:cNvPr id="4" name="Text 2"/>
          <p:cNvSpPr/>
          <p:nvPr/>
        </p:nvSpPr>
        <p:spPr>
          <a:xfrm>
            <a:off x="502920" y="1691640"/>
            <a:ext cx="5943600" cy="685800"/>
          </a:xfrm>
          <a:prstGeom prst="rect">
            <a:avLst/>
          </a:prstGeom>
          <a:noFill/>
          <a:ln/>
        </p:spPr>
        <p:txBody>
          <a:bodyPr wrap="square" lIns="0" tIns="0" rIns="0" bIns="0" rtlCol="0" anchor="ctr"/>
          <a:lstStyle/>
          <a:p>
            <a:pPr marL="0" indent="0" algn="l">
              <a:buNone/>
            </a:pPr>
            <a:r>
              <a:rPr lang="en-US" sz="3000" b="1" dirty="0">
                <a:solidFill>
                  <a:srgbClr val="CADCFC"/>
                </a:solidFill>
                <a:latin typeface="Cambria" pitchFamily="34" charset="0"/>
                <a:ea typeface="Cambria" pitchFamily="34" charset="-122"/>
                <a:cs typeface="Cambria" pitchFamily="34" charset="-120"/>
              </a:rPr>
              <a:t>TRUNG TÂM THƯƠNG MẠI</a:t>
            </a:r>
            <a:endParaRPr lang="en-US" sz="3000" dirty="0"/>
          </a:p>
        </p:txBody>
      </p:sp>
      <p:sp>
        <p:nvSpPr>
          <p:cNvPr id="5" name="Text 3"/>
          <p:cNvSpPr/>
          <p:nvPr/>
        </p:nvSpPr>
        <p:spPr>
          <a:xfrm>
            <a:off x="502920" y="2395728"/>
            <a:ext cx="5943600" cy="457200"/>
          </a:xfrm>
          <a:prstGeom prst="rect">
            <a:avLst/>
          </a:prstGeom>
          <a:noFill/>
          <a:ln/>
        </p:spPr>
        <p:txBody>
          <a:bodyPr wrap="square" lIns="0" tIns="0" rIns="0" bIns="0" rtlCol="0" anchor="ctr"/>
          <a:lstStyle/>
          <a:p>
            <a:pPr marL="0" indent="0" algn="l">
              <a:buNone/>
            </a:pPr>
            <a:endParaRPr lang="en-US" sz="1400" dirty="0"/>
          </a:p>
        </p:txBody>
      </p:sp>
      <p:sp>
        <p:nvSpPr>
          <p:cNvPr id="6" name="Shape 4"/>
          <p:cNvSpPr/>
          <p:nvPr/>
        </p:nvSpPr>
        <p:spPr>
          <a:xfrm>
            <a:off x="375752" y="2675074"/>
            <a:ext cx="5303520" cy="0"/>
          </a:xfrm>
          <a:prstGeom prst="line">
            <a:avLst/>
          </a:prstGeom>
          <a:noFill/>
          <a:ln w="12700">
            <a:solidFill>
              <a:srgbClr val="CADCFC"/>
            </a:solidFill>
            <a:prstDash val="solid"/>
          </a:ln>
        </p:spPr>
      </p:sp>
      <p:sp>
        <p:nvSpPr>
          <p:cNvPr id="7" name="Text 5"/>
          <p:cNvSpPr/>
          <p:nvPr/>
        </p:nvSpPr>
        <p:spPr>
          <a:xfrm>
            <a:off x="430253" y="2879573"/>
            <a:ext cx="5943600" cy="1280160"/>
          </a:xfrm>
          <a:prstGeom prst="rect">
            <a:avLst/>
          </a:prstGeom>
          <a:noFill/>
          <a:ln/>
        </p:spPr>
        <p:txBody>
          <a:bodyPr wrap="square" rtlCol="0" anchor="t"/>
          <a:lstStyle/>
          <a:p>
            <a:pPr marL="0" indent="0">
              <a:buNone/>
            </a:pPr>
            <a:r>
              <a:rPr lang="en-US" sz="1300" dirty="0">
                <a:solidFill>
                  <a:srgbClr val="B8CCE8"/>
                </a:solidFill>
                <a:latin typeface="Calibri" pitchFamily="34" charset="0"/>
                <a:ea typeface="Calibri" pitchFamily="34" charset="-122"/>
                <a:cs typeface="Calibri" pitchFamily="34" charset="-120"/>
              </a:rPr>
              <a:t>Môn học: Khoa học Dữ liệu</a:t>
            </a:r>
            <a:endParaRPr lang="en-US" sz="1300" dirty="0"/>
          </a:p>
          <a:p>
            <a:pPr marL="0" indent="0">
              <a:buNone/>
            </a:pPr>
            <a:r>
              <a:rPr lang="en-US" sz="1300" dirty="0">
                <a:solidFill>
                  <a:srgbClr val="B8CCE8"/>
                </a:solidFill>
                <a:latin typeface="Calibri" pitchFamily="34" charset="0"/>
                <a:ea typeface="Calibri" pitchFamily="34" charset="-122"/>
                <a:cs typeface="Calibri" pitchFamily="34" charset="-120"/>
              </a:rPr>
              <a:t>Sinh viên: Phương Thị Ánh Nguyệt  –  MSSV: K225480106098</a:t>
            </a:r>
            <a:endParaRPr lang="en-US" sz="1300" dirty="0"/>
          </a:p>
          <a:p>
            <a:pPr marL="0" indent="0">
              <a:buNone/>
            </a:pPr>
            <a:r>
              <a:rPr lang="en-US" sz="1300" dirty="0">
                <a:solidFill>
                  <a:srgbClr val="B8CCE8"/>
                </a:solidFill>
                <a:latin typeface="Calibri" pitchFamily="34" charset="0"/>
                <a:ea typeface="Calibri" pitchFamily="34" charset="-122"/>
                <a:cs typeface="Calibri" pitchFamily="34" charset="-120"/>
              </a:rPr>
              <a:t>GVHD: TS. Nguyễn Văn Huy</a:t>
            </a:r>
            <a:endParaRPr lang="en-US" sz="1300" dirty="0"/>
          </a:p>
          <a:p>
            <a:pPr marL="0" indent="0">
              <a:buNone/>
            </a:pPr>
            <a:r>
              <a:rPr lang="en-US" sz="1300" dirty="0">
                <a:solidFill>
                  <a:srgbClr val="B8CCE8"/>
                </a:solidFill>
                <a:latin typeface="Calibri" pitchFamily="34" charset="0"/>
                <a:ea typeface="Calibri" pitchFamily="34" charset="-122"/>
                <a:cs typeface="Calibri" pitchFamily="34" charset="-120"/>
              </a:rPr>
              <a:t>Trường Đại Học Kỹ thuật Công nghiệp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658368"/>
          </a:xfrm>
          <a:prstGeom prst="rect">
            <a:avLst/>
          </a:prstGeom>
          <a:noFill/>
          <a:ln/>
        </p:spPr>
        <p:txBody>
          <a:bodyPr wrap="square" lIns="0" tIns="0" rIns="0" bIns="0"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Đặt vấn đề</a:t>
            </a:r>
            <a:endParaRPr lang="en-US" sz="3200" dirty="0"/>
          </a:p>
        </p:txBody>
      </p:sp>
      <p:sp>
        <p:nvSpPr>
          <p:cNvPr id="3" name="Shape 1"/>
          <p:cNvSpPr/>
          <p:nvPr/>
        </p:nvSpPr>
        <p:spPr>
          <a:xfrm>
            <a:off x="457200" y="1005840"/>
            <a:ext cx="8229600" cy="0"/>
          </a:xfrm>
          <a:prstGeom prst="line">
            <a:avLst/>
          </a:prstGeom>
          <a:noFill/>
          <a:ln w="6350">
            <a:solidFill>
              <a:srgbClr val="CADCFC"/>
            </a:solidFill>
            <a:prstDash val="solid"/>
          </a:ln>
        </p:spPr>
      </p:sp>
      <p:sp>
        <p:nvSpPr>
          <p:cNvPr id="4" name="Shape 2"/>
          <p:cNvSpPr/>
          <p:nvPr/>
        </p:nvSpPr>
        <p:spPr>
          <a:xfrm>
            <a:off x="411480" y="1143000"/>
            <a:ext cx="3931920" cy="3291840"/>
          </a:xfrm>
          <a:prstGeom prst="roundRect">
            <a:avLst>
              <a:gd name="adj" fmla="val 2222"/>
            </a:avLst>
          </a:prstGeom>
          <a:solidFill>
            <a:srgbClr val="0D1B4B"/>
          </a:solidFill>
          <a:ln w="6350">
            <a:solidFill>
              <a:srgbClr val="FFFFFF"/>
            </a:solidFill>
            <a:prstDash val="solid"/>
          </a:ln>
        </p:spPr>
      </p:sp>
      <p:sp>
        <p:nvSpPr>
          <p:cNvPr id="5" name="Text 3"/>
          <p:cNvSpPr/>
          <p:nvPr/>
        </p:nvSpPr>
        <p:spPr>
          <a:xfrm>
            <a:off x="502920" y="1207008"/>
            <a:ext cx="3749040" cy="384048"/>
          </a:xfrm>
          <a:prstGeom prst="rect">
            <a:avLst/>
          </a:prstGeom>
          <a:noFill/>
          <a:ln/>
        </p:spPr>
        <p:txBody>
          <a:bodyPr wrap="square" lIns="0" tIns="0" rIns="0" bIns="0" rtlCol="0" anchor="ctr"/>
          <a:lstStyle/>
          <a:p>
            <a:pPr marL="0" indent="0">
              <a:buNone/>
            </a:pPr>
            <a:r>
              <a:rPr lang="en-US" sz="1500" b="1" dirty="0">
                <a:solidFill>
                  <a:srgbClr val="CADCFC"/>
                </a:solidFill>
                <a:latin typeface="Calibri" pitchFamily="34" charset="0"/>
                <a:ea typeface="Calibri" pitchFamily="34" charset="-122"/>
                <a:cs typeface="Calibri" pitchFamily="34" charset="-120"/>
              </a:rPr>
              <a:t>⚠ Thực trạng</a:t>
            </a:r>
            <a:endParaRPr lang="en-US" sz="1500" dirty="0"/>
          </a:p>
        </p:txBody>
      </p:sp>
      <p:sp>
        <p:nvSpPr>
          <p:cNvPr id="6" name="Text 4"/>
          <p:cNvSpPr/>
          <p:nvPr/>
        </p:nvSpPr>
        <p:spPr>
          <a:xfrm>
            <a:off x="548640" y="1627632"/>
            <a:ext cx="3657600" cy="2560320"/>
          </a:xfrm>
          <a:prstGeom prst="rect">
            <a:avLst/>
          </a:prstGeom>
          <a:noFill/>
          <a:ln/>
        </p:spPr>
        <p:txBody>
          <a:bodyPr wrap="square" rtlCol="0" anchor="t"/>
          <a:lstStyle/>
          <a:p>
            <a:pPr marL="342900" indent="-342900">
              <a:spcAft>
                <a:spcPts val="600"/>
              </a:spcAft>
              <a:buSzPct val="100000"/>
              <a:buChar char="•"/>
            </a:pPr>
            <a:r>
              <a:rPr lang="en-US" sz="1400" dirty="0">
                <a:solidFill>
                  <a:srgbClr val="C8D8F0"/>
                </a:solidFill>
                <a:latin typeface="Calibri" pitchFamily="34" charset="0"/>
                <a:ea typeface="Calibri" pitchFamily="34" charset="-122"/>
                <a:cs typeface="Calibri" pitchFamily="34" charset="-120"/>
              </a:rPr>
              <a:t>Ngành bán lẻ cạnh tranh khốc liệt</a:t>
            </a:r>
            <a:endParaRPr lang="en-US" sz="1400" dirty="0"/>
          </a:p>
          <a:p>
            <a:pPr marL="342900" indent="-342900">
              <a:spcAft>
                <a:spcPts val="600"/>
              </a:spcAft>
              <a:buSzPct val="100000"/>
              <a:buChar char="•"/>
            </a:pPr>
            <a:r>
              <a:rPr lang="en-US" sz="1400" dirty="0">
                <a:solidFill>
                  <a:srgbClr val="C8D8F0"/>
                </a:solidFill>
                <a:latin typeface="Calibri" pitchFamily="34" charset="0"/>
                <a:ea typeface="Calibri" pitchFamily="34" charset="-122"/>
                <a:cs typeface="Calibri" pitchFamily="34" charset="-120"/>
              </a:rPr>
              <a:t>Khách hàng đa dạng về tuổi, thu nhập, thói quen</a:t>
            </a:r>
            <a:endParaRPr lang="en-US" sz="1400" dirty="0"/>
          </a:p>
          <a:p>
            <a:pPr marL="342900" indent="-342900">
              <a:spcAft>
                <a:spcPts val="600"/>
              </a:spcAft>
              <a:buSzPct val="100000"/>
              <a:buChar char="•"/>
            </a:pPr>
            <a:r>
              <a:rPr lang="en-US" sz="1400" dirty="0">
                <a:solidFill>
                  <a:srgbClr val="C8D8F0"/>
                </a:solidFill>
                <a:latin typeface="Calibri" pitchFamily="34" charset="0"/>
                <a:ea typeface="Calibri" pitchFamily="34" charset="-122"/>
                <a:cs typeface="Calibri" pitchFamily="34" charset="-120"/>
              </a:rPr>
              <a:t>Tiếp thị đại trà gây lãng phí nguồn lực</a:t>
            </a:r>
            <a:endParaRPr lang="en-US" sz="1400" dirty="0"/>
          </a:p>
          <a:p>
            <a:pPr marL="342900" indent="-342900">
              <a:spcAft>
                <a:spcPts val="600"/>
              </a:spcAft>
              <a:buSzPct val="100000"/>
              <a:buChar char="•"/>
            </a:pPr>
            <a:r>
              <a:rPr lang="en-US" sz="1400" dirty="0">
                <a:solidFill>
                  <a:srgbClr val="C8D8F0"/>
                </a:solidFill>
                <a:latin typeface="Calibri" pitchFamily="34" charset="0"/>
                <a:ea typeface="Calibri" pitchFamily="34" charset="-122"/>
                <a:cs typeface="Calibri" pitchFamily="34" charset="-120"/>
              </a:rPr>
              <a:t>Phân nhóm theo cảm tính thiếu chính xác</a:t>
            </a:r>
            <a:endParaRPr lang="en-US" sz="1400" dirty="0"/>
          </a:p>
        </p:txBody>
      </p:sp>
      <p:sp>
        <p:nvSpPr>
          <p:cNvPr id="7" name="Shape 5"/>
          <p:cNvSpPr/>
          <p:nvPr/>
        </p:nvSpPr>
        <p:spPr>
          <a:xfrm>
            <a:off x="4800600" y="1143000"/>
            <a:ext cx="3931920" cy="3291840"/>
          </a:xfrm>
          <a:prstGeom prst="roundRect">
            <a:avLst>
              <a:gd name="adj" fmla="val 2222"/>
            </a:avLst>
          </a:prstGeom>
          <a:solidFill>
            <a:srgbClr val="162050"/>
          </a:solidFill>
          <a:ln w="12700">
            <a:solidFill>
              <a:srgbClr val="2563EB"/>
            </a:solidFill>
            <a:prstDash val="solid"/>
          </a:ln>
        </p:spPr>
      </p:sp>
      <p:sp>
        <p:nvSpPr>
          <p:cNvPr id="8" name="Text 6"/>
          <p:cNvSpPr/>
          <p:nvPr/>
        </p:nvSpPr>
        <p:spPr>
          <a:xfrm>
            <a:off x="4892040" y="1207008"/>
            <a:ext cx="3749040" cy="384048"/>
          </a:xfrm>
          <a:prstGeom prst="rect">
            <a:avLst/>
          </a:prstGeom>
          <a:noFill/>
          <a:ln/>
        </p:spPr>
        <p:txBody>
          <a:bodyPr wrap="square" lIns="0" tIns="0" rIns="0" bIns="0" rtlCol="0" anchor="ctr"/>
          <a:lstStyle/>
          <a:p>
            <a:pPr marL="0" indent="0">
              <a:buNone/>
            </a:pPr>
            <a:r>
              <a:rPr lang="en-US" sz="1500" b="1" dirty="0">
                <a:solidFill>
                  <a:srgbClr val="CADCFC"/>
                </a:solidFill>
                <a:latin typeface="Calibri" pitchFamily="34" charset="0"/>
                <a:ea typeface="Calibri" pitchFamily="34" charset="-122"/>
                <a:cs typeface="Calibri" pitchFamily="34" charset="-120"/>
              </a:rPr>
              <a:t>✔ Giải pháp đề tài</a:t>
            </a:r>
            <a:endParaRPr lang="en-US" sz="1500" dirty="0"/>
          </a:p>
        </p:txBody>
      </p:sp>
      <p:sp>
        <p:nvSpPr>
          <p:cNvPr id="9" name="Text 7"/>
          <p:cNvSpPr/>
          <p:nvPr/>
        </p:nvSpPr>
        <p:spPr>
          <a:xfrm>
            <a:off x="4937760" y="1627632"/>
            <a:ext cx="3657600" cy="2560320"/>
          </a:xfrm>
          <a:prstGeom prst="rect">
            <a:avLst/>
          </a:prstGeom>
          <a:noFill/>
          <a:ln/>
        </p:spPr>
        <p:txBody>
          <a:bodyPr wrap="square" rtlCol="0" anchor="t"/>
          <a:lstStyle/>
          <a:p>
            <a:pPr marL="342900" indent="-342900">
              <a:spcAft>
                <a:spcPts val="600"/>
              </a:spcAft>
              <a:buSzPct val="100000"/>
              <a:buChar char="•"/>
            </a:pPr>
            <a:r>
              <a:rPr lang="en-US" sz="1400" dirty="0">
                <a:solidFill>
                  <a:srgbClr val="C8D8F0"/>
                </a:solidFill>
                <a:latin typeface="Calibri" pitchFamily="34" charset="0"/>
                <a:ea typeface="Calibri" pitchFamily="34" charset="-122"/>
                <a:cs typeface="Calibri" pitchFamily="34" charset="-120"/>
              </a:rPr>
              <a:t>Phân khúc khách hàng bằng dữ liệu</a:t>
            </a:r>
            <a:endParaRPr lang="en-US" sz="1400" dirty="0"/>
          </a:p>
          <a:p>
            <a:pPr marL="342900" indent="-342900">
              <a:spcAft>
                <a:spcPts val="600"/>
              </a:spcAft>
              <a:buSzPct val="100000"/>
              <a:buChar char="•"/>
            </a:pPr>
            <a:r>
              <a:rPr lang="en-US" sz="1400" dirty="0">
                <a:solidFill>
                  <a:srgbClr val="C8D8F0"/>
                </a:solidFill>
                <a:latin typeface="Calibri" pitchFamily="34" charset="0"/>
                <a:ea typeface="Calibri" pitchFamily="34" charset="-122"/>
                <a:cs typeface="Calibri" pitchFamily="34" charset="-120"/>
              </a:rPr>
              <a:t>Thuật toán K-Means tự động tìm nhóm</a:t>
            </a:r>
            <a:endParaRPr lang="en-US" sz="1400" dirty="0"/>
          </a:p>
          <a:p>
            <a:pPr marL="342900" indent="-342900">
              <a:spcAft>
                <a:spcPts val="600"/>
              </a:spcAft>
              <a:buSzPct val="100000"/>
              <a:buChar char="•"/>
            </a:pPr>
            <a:r>
              <a:rPr lang="en-US" sz="1400" dirty="0">
                <a:solidFill>
                  <a:srgbClr val="C8D8F0"/>
                </a:solidFill>
                <a:latin typeface="Calibri" pitchFamily="34" charset="0"/>
                <a:ea typeface="Calibri" pitchFamily="34" charset="-122"/>
                <a:cs typeface="Calibri" pitchFamily="34" charset="-120"/>
              </a:rPr>
              <a:t>Cây quyết định dự đoán khách mới</a:t>
            </a:r>
            <a:endParaRPr lang="en-US" sz="1400" dirty="0"/>
          </a:p>
          <a:p>
            <a:pPr marL="342900" indent="-342900">
              <a:spcAft>
                <a:spcPts val="600"/>
              </a:spcAft>
              <a:buSzPct val="100000"/>
              <a:buChar char="•"/>
            </a:pPr>
            <a:r>
              <a:rPr lang="en-US" sz="1400" dirty="0">
                <a:solidFill>
                  <a:srgbClr val="C8D8F0"/>
                </a:solidFill>
                <a:latin typeface="Calibri" pitchFamily="34" charset="0"/>
                <a:ea typeface="Calibri" pitchFamily="34" charset="-122"/>
                <a:cs typeface="Calibri" pitchFamily="34" charset="-120"/>
              </a:rPr>
              <a:t>Chiến lược marketing riêng từng nhóm</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Bộ dữ liệu: Mall Customer Segmentation</a:t>
            </a:r>
            <a:endParaRPr lang="en-US" sz="3000" dirty="0"/>
          </a:p>
        </p:txBody>
      </p:sp>
      <p:sp>
        <p:nvSpPr>
          <p:cNvPr id="3" name="Shape 1"/>
          <p:cNvSpPr/>
          <p:nvPr/>
        </p:nvSpPr>
        <p:spPr>
          <a:xfrm>
            <a:off x="457200" y="822960"/>
            <a:ext cx="8229600" cy="36576"/>
          </a:xfrm>
          <a:prstGeom prst="rect">
            <a:avLst/>
          </a:prstGeom>
          <a:solidFill>
            <a:srgbClr val="2563EB"/>
          </a:solidFill>
          <a:ln w="12700">
            <a:solidFill>
              <a:srgbClr val="2563EB"/>
            </a:solidFill>
            <a:prstDash val="solid"/>
          </a:ln>
        </p:spPr>
      </p:sp>
      <p:sp>
        <p:nvSpPr>
          <p:cNvPr id="4" name="Shape 2"/>
          <p:cNvSpPr/>
          <p:nvPr/>
        </p:nvSpPr>
        <p:spPr>
          <a:xfrm>
            <a:off x="457200" y="960120"/>
            <a:ext cx="1920240" cy="1234440"/>
          </a:xfrm>
          <a:prstGeom prst="roundRect">
            <a:avLst>
              <a:gd name="adj" fmla="val 5926"/>
            </a:avLst>
          </a:prstGeom>
          <a:solidFill>
            <a:srgbClr val="FFFFFF"/>
          </a:solidFill>
          <a:ln/>
          <a:effectLst>
            <a:outerShdw blurRad="101600" dist="25400" dir="2700000" algn="bl" rotWithShape="0">
              <a:srgbClr val="000000">
                <a:alpha val="10000"/>
              </a:srgbClr>
            </a:outerShdw>
          </a:effectLst>
        </p:spPr>
      </p:sp>
      <p:sp>
        <p:nvSpPr>
          <p:cNvPr id="5" name="Text 3"/>
          <p:cNvSpPr/>
          <p:nvPr/>
        </p:nvSpPr>
        <p:spPr>
          <a:xfrm>
            <a:off x="457200" y="1051560"/>
            <a:ext cx="1920240" cy="685800"/>
          </a:xfrm>
          <a:prstGeom prst="rect">
            <a:avLst/>
          </a:prstGeom>
          <a:noFill/>
          <a:ln/>
        </p:spPr>
        <p:txBody>
          <a:bodyPr wrap="square" lIns="0" tIns="0" rIns="0" bIns="0" rtlCol="0" anchor="ctr"/>
          <a:lstStyle/>
          <a:p>
            <a:pPr marL="0" indent="0" algn="ctr">
              <a:buNone/>
            </a:pPr>
            <a:r>
              <a:rPr lang="en-US" sz="4000" b="1" dirty="0">
                <a:solidFill>
                  <a:srgbClr val="2563EB"/>
                </a:solidFill>
                <a:latin typeface="Calibri" pitchFamily="34" charset="0"/>
                <a:ea typeface="Calibri" pitchFamily="34" charset="-122"/>
                <a:cs typeface="Calibri" pitchFamily="34" charset="-120"/>
              </a:rPr>
              <a:t>200</a:t>
            </a:r>
            <a:endParaRPr lang="en-US" sz="4000" dirty="0"/>
          </a:p>
        </p:txBody>
      </p:sp>
      <p:sp>
        <p:nvSpPr>
          <p:cNvPr id="6" name="Text 4"/>
          <p:cNvSpPr/>
          <p:nvPr/>
        </p:nvSpPr>
        <p:spPr>
          <a:xfrm>
            <a:off x="457200" y="1709928"/>
            <a:ext cx="1920240" cy="411480"/>
          </a:xfrm>
          <a:prstGeom prst="rect">
            <a:avLst/>
          </a:prstGeom>
          <a:noFill/>
          <a:ln/>
        </p:spPr>
        <p:txBody>
          <a:bodyPr wrap="square" lIns="0" tIns="0" rIns="0" bIns="0" rtlCol="0" anchor="t"/>
          <a:lstStyle/>
          <a:p>
            <a:pPr marL="0" indent="0" algn="ctr">
              <a:buNone/>
            </a:pPr>
            <a:r>
              <a:rPr lang="en-US" sz="1300" dirty="0">
                <a:solidFill>
                  <a:srgbClr val="64748B"/>
                </a:solidFill>
                <a:latin typeface="Calibri" pitchFamily="34" charset="0"/>
                <a:ea typeface="Calibri" pitchFamily="34" charset="-122"/>
                <a:cs typeface="Calibri" pitchFamily="34" charset="-120"/>
              </a:rPr>
              <a:t>khách hàng</a:t>
            </a:r>
            <a:endParaRPr lang="en-US" sz="1300" dirty="0"/>
          </a:p>
        </p:txBody>
      </p:sp>
      <p:sp>
        <p:nvSpPr>
          <p:cNvPr id="7" name="Shape 5"/>
          <p:cNvSpPr/>
          <p:nvPr/>
        </p:nvSpPr>
        <p:spPr>
          <a:xfrm>
            <a:off x="2514600" y="960120"/>
            <a:ext cx="1920240" cy="1234440"/>
          </a:xfrm>
          <a:prstGeom prst="roundRect">
            <a:avLst>
              <a:gd name="adj" fmla="val 5926"/>
            </a:avLst>
          </a:prstGeom>
          <a:solidFill>
            <a:srgbClr val="FFFFFF"/>
          </a:solidFill>
          <a:ln/>
          <a:effectLst>
            <a:outerShdw blurRad="101600" dist="25400" dir="2700000" algn="bl" rotWithShape="0">
              <a:srgbClr val="000000">
                <a:alpha val="10000"/>
              </a:srgbClr>
            </a:outerShdw>
          </a:effectLst>
        </p:spPr>
      </p:sp>
      <p:sp>
        <p:nvSpPr>
          <p:cNvPr id="8" name="Text 6"/>
          <p:cNvSpPr/>
          <p:nvPr/>
        </p:nvSpPr>
        <p:spPr>
          <a:xfrm>
            <a:off x="2514600" y="1051560"/>
            <a:ext cx="1920240" cy="685800"/>
          </a:xfrm>
          <a:prstGeom prst="rect">
            <a:avLst/>
          </a:prstGeom>
          <a:noFill/>
          <a:ln/>
        </p:spPr>
        <p:txBody>
          <a:bodyPr wrap="square" lIns="0" tIns="0" rIns="0" bIns="0" rtlCol="0" anchor="ctr"/>
          <a:lstStyle/>
          <a:p>
            <a:pPr marL="0" indent="0" algn="ctr">
              <a:buNone/>
            </a:pPr>
            <a:r>
              <a:rPr lang="en-US" sz="4000" b="1" dirty="0">
                <a:solidFill>
                  <a:srgbClr val="1E2761"/>
                </a:solidFill>
                <a:latin typeface="Calibri" pitchFamily="34" charset="0"/>
                <a:ea typeface="Calibri" pitchFamily="34" charset="-122"/>
                <a:cs typeface="Calibri" pitchFamily="34" charset="-120"/>
              </a:rPr>
              <a:t>5</a:t>
            </a:r>
            <a:endParaRPr lang="en-US" sz="4000" dirty="0"/>
          </a:p>
        </p:txBody>
      </p:sp>
      <p:sp>
        <p:nvSpPr>
          <p:cNvPr id="9" name="Text 7"/>
          <p:cNvSpPr/>
          <p:nvPr/>
        </p:nvSpPr>
        <p:spPr>
          <a:xfrm>
            <a:off x="2514600" y="1709928"/>
            <a:ext cx="1920240" cy="411480"/>
          </a:xfrm>
          <a:prstGeom prst="rect">
            <a:avLst/>
          </a:prstGeom>
          <a:noFill/>
          <a:ln/>
        </p:spPr>
        <p:txBody>
          <a:bodyPr wrap="square" lIns="0" tIns="0" rIns="0" bIns="0" rtlCol="0" anchor="t"/>
          <a:lstStyle/>
          <a:p>
            <a:pPr marL="0" indent="0" algn="ctr">
              <a:buNone/>
            </a:pPr>
            <a:r>
              <a:rPr lang="en-US" sz="1300" dirty="0">
                <a:solidFill>
                  <a:srgbClr val="64748B"/>
                </a:solidFill>
                <a:latin typeface="Calibri" pitchFamily="34" charset="0"/>
                <a:ea typeface="Calibri" pitchFamily="34" charset="-122"/>
                <a:cs typeface="Calibri" pitchFamily="34" charset="-120"/>
              </a:rPr>
              <a:t>thuộc tính</a:t>
            </a:r>
            <a:endParaRPr lang="en-US" sz="1300" dirty="0"/>
          </a:p>
        </p:txBody>
      </p:sp>
      <p:sp>
        <p:nvSpPr>
          <p:cNvPr id="10" name="Shape 8"/>
          <p:cNvSpPr/>
          <p:nvPr/>
        </p:nvSpPr>
        <p:spPr>
          <a:xfrm>
            <a:off x="4572000" y="960120"/>
            <a:ext cx="1920240" cy="1234440"/>
          </a:xfrm>
          <a:prstGeom prst="roundRect">
            <a:avLst>
              <a:gd name="adj" fmla="val 5926"/>
            </a:avLst>
          </a:prstGeom>
          <a:solidFill>
            <a:srgbClr val="FFFFFF"/>
          </a:solidFill>
          <a:ln/>
          <a:effectLst>
            <a:outerShdw blurRad="101600" dist="25400" dir="2700000" algn="bl" rotWithShape="0">
              <a:srgbClr val="000000">
                <a:alpha val="10000"/>
              </a:srgbClr>
            </a:outerShdw>
          </a:effectLst>
        </p:spPr>
      </p:sp>
      <p:sp>
        <p:nvSpPr>
          <p:cNvPr id="11" name="Text 9"/>
          <p:cNvSpPr/>
          <p:nvPr/>
        </p:nvSpPr>
        <p:spPr>
          <a:xfrm>
            <a:off x="4572000" y="1051560"/>
            <a:ext cx="1920240" cy="685800"/>
          </a:xfrm>
          <a:prstGeom prst="rect">
            <a:avLst/>
          </a:prstGeom>
          <a:noFill/>
          <a:ln/>
        </p:spPr>
        <p:txBody>
          <a:bodyPr wrap="square" lIns="0" tIns="0" rIns="0" bIns="0" rtlCol="0" anchor="ctr"/>
          <a:lstStyle/>
          <a:p>
            <a:pPr marL="0" indent="0" algn="ctr">
              <a:buNone/>
            </a:pPr>
            <a:r>
              <a:rPr lang="en-US" sz="4000" b="1" dirty="0">
                <a:solidFill>
                  <a:srgbClr val="059669"/>
                </a:solidFill>
                <a:latin typeface="Calibri" pitchFamily="34" charset="0"/>
                <a:ea typeface="Calibri" pitchFamily="34" charset="-122"/>
                <a:cs typeface="Calibri" pitchFamily="34" charset="-120"/>
              </a:rPr>
              <a:t>0</a:t>
            </a:r>
            <a:endParaRPr lang="en-US" sz="4000" dirty="0"/>
          </a:p>
        </p:txBody>
      </p:sp>
      <p:sp>
        <p:nvSpPr>
          <p:cNvPr id="12" name="Text 10"/>
          <p:cNvSpPr/>
          <p:nvPr/>
        </p:nvSpPr>
        <p:spPr>
          <a:xfrm>
            <a:off x="4572000" y="1709928"/>
            <a:ext cx="1920240" cy="411480"/>
          </a:xfrm>
          <a:prstGeom prst="rect">
            <a:avLst/>
          </a:prstGeom>
          <a:noFill/>
          <a:ln/>
        </p:spPr>
        <p:txBody>
          <a:bodyPr wrap="square" lIns="0" tIns="0" rIns="0" bIns="0" rtlCol="0" anchor="t"/>
          <a:lstStyle/>
          <a:p>
            <a:pPr marL="0" indent="0" algn="ctr">
              <a:buNone/>
            </a:pPr>
            <a:r>
              <a:rPr lang="en-US" sz="1300" dirty="0">
                <a:solidFill>
                  <a:srgbClr val="64748B"/>
                </a:solidFill>
                <a:latin typeface="Calibri" pitchFamily="34" charset="0"/>
                <a:ea typeface="Calibri" pitchFamily="34" charset="-122"/>
                <a:cs typeface="Calibri" pitchFamily="34" charset="-120"/>
              </a:rPr>
              <a:t>giá trị thiếu</a:t>
            </a:r>
            <a:endParaRPr lang="en-US" sz="1300" dirty="0"/>
          </a:p>
        </p:txBody>
      </p:sp>
      <p:sp>
        <p:nvSpPr>
          <p:cNvPr id="13" name="Shape 11"/>
          <p:cNvSpPr/>
          <p:nvPr/>
        </p:nvSpPr>
        <p:spPr>
          <a:xfrm>
            <a:off x="6629400" y="960120"/>
            <a:ext cx="1920240" cy="1234440"/>
          </a:xfrm>
          <a:prstGeom prst="roundRect">
            <a:avLst>
              <a:gd name="adj" fmla="val 5926"/>
            </a:avLst>
          </a:prstGeom>
          <a:solidFill>
            <a:srgbClr val="FFFFFF"/>
          </a:solidFill>
          <a:ln/>
          <a:effectLst>
            <a:outerShdw blurRad="101600" dist="25400" dir="2700000" algn="bl" rotWithShape="0">
              <a:srgbClr val="000000">
                <a:alpha val="10000"/>
              </a:srgbClr>
            </a:outerShdw>
          </a:effectLst>
        </p:spPr>
      </p:sp>
      <p:sp>
        <p:nvSpPr>
          <p:cNvPr id="14" name="Text 12"/>
          <p:cNvSpPr/>
          <p:nvPr/>
        </p:nvSpPr>
        <p:spPr>
          <a:xfrm>
            <a:off x="6629400" y="1051560"/>
            <a:ext cx="1920240" cy="685800"/>
          </a:xfrm>
          <a:prstGeom prst="rect">
            <a:avLst/>
          </a:prstGeom>
          <a:noFill/>
          <a:ln/>
        </p:spPr>
        <p:txBody>
          <a:bodyPr wrap="square" lIns="0" tIns="0" rIns="0" bIns="0" rtlCol="0" anchor="ctr"/>
          <a:lstStyle/>
          <a:p>
            <a:pPr marL="0" indent="0" algn="ctr">
              <a:buNone/>
            </a:pPr>
            <a:r>
              <a:rPr lang="en-US" sz="4000" b="1" dirty="0">
                <a:solidFill>
                  <a:srgbClr val="059669"/>
                </a:solidFill>
                <a:latin typeface="Calibri" pitchFamily="34" charset="0"/>
                <a:ea typeface="Calibri" pitchFamily="34" charset="-122"/>
                <a:cs typeface="Calibri" pitchFamily="34" charset="-120"/>
              </a:rPr>
              <a:t>0</a:t>
            </a:r>
            <a:endParaRPr lang="en-US" sz="4000" dirty="0"/>
          </a:p>
        </p:txBody>
      </p:sp>
      <p:sp>
        <p:nvSpPr>
          <p:cNvPr id="15" name="Text 13"/>
          <p:cNvSpPr/>
          <p:nvPr/>
        </p:nvSpPr>
        <p:spPr>
          <a:xfrm>
            <a:off x="6629400" y="1709928"/>
            <a:ext cx="1920240" cy="411480"/>
          </a:xfrm>
          <a:prstGeom prst="rect">
            <a:avLst/>
          </a:prstGeom>
          <a:noFill/>
          <a:ln/>
        </p:spPr>
        <p:txBody>
          <a:bodyPr wrap="square" lIns="0" tIns="0" rIns="0" bIns="0" rtlCol="0" anchor="t"/>
          <a:lstStyle/>
          <a:p>
            <a:pPr marL="0" indent="0" algn="ctr">
              <a:buNone/>
            </a:pPr>
            <a:r>
              <a:rPr lang="en-US" sz="1300" dirty="0">
                <a:solidFill>
                  <a:srgbClr val="64748B"/>
                </a:solidFill>
                <a:latin typeface="Calibri" pitchFamily="34" charset="0"/>
                <a:ea typeface="Calibri" pitchFamily="34" charset="-122"/>
                <a:cs typeface="Calibri" pitchFamily="34" charset="-120"/>
              </a:rPr>
              <a:t>dòng trùng</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2331720"/>
          <a:ext cx="8229600" cy="2377440"/>
        </p:xfrm>
        <a:graphic>
          <a:graphicData uri="http://schemas.openxmlformats.org/drawingml/2006/table">
            <a:tbl>
              <a:tblPr/>
              <a:tblGrid>
                <a:gridCol w="201168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9624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Thuộc tính</a:t>
                      </a:r>
                      <a:endParaRPr lang="en-US" sz="13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Ý nghĩa</a:t>
                      </a:r>
                      <a:endParaRPr lang="en-US" sz="13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Kiểu</a:t>
                      </a:r>
                      <a:endParaRPr lang="en-US" sz="13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96240">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CustomerID</a:t>
                      </a:r>
                      <a:endParaRPr lang="en-US" sz="13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Mã định danh khách hàng</a:t>
                      </a:r>
                      <a:endParaRPr lang="en-US" sz="13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Số nguyên</a:t>
                      </a:r>
                      <a:endParaRPr lang="en-US" sz="13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10001"/>
                  </a:ext>
                </a:extLst>
              </a:tr>
              <a:tr h="396240">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GioiTinh</a:t>
                      </a:r>
                      <a:endParaRPr lang="en-US" sz="13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Giới tính (Nam / Nữ)</a:t>
                      </a:r>
                      <a:endParaRPr lang="en-US" sz="13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Chuỗi</a:t>
                      </a:r>
                      <a:endParaRPr lang="en-US" sz="13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10002"/>
                  </a:ext>
                </a:extLst>
              </a:tr>
              <a:tr h="396240">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Tuoi</a:t>
                      </a:r>
                      <a:endParaRPr lang="en-US" sz="13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Tuổi (18 – 70)</a:t>
                      </a:r>
                      <a:endParaRPr lang="en-US" sz="13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Số nguyên</a:t>
                      </a:r>
                      <a:endParaRPr lang="en-US" sz="13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10003"/>
                  </a:ext>
                </a:extLst>
              </a:tr>
              <a:tr h="396240">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ThuNhap</a:t>
                      </a:r>
                      <a:endParaRPr lang="en-US" sz="13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Thu nhập hằng năm (nghìn USD, 15–137)</a:t>
                      </a:r>
                      <a:endParaRPr lang="en-US" sz="13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Số nguyên</a:t>
                      </a:r>
                      <a:endParaRPr lang="en-US" sz="13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10004"/>
                  </a:ext>
                </a:extLst>
              </a:tr>
              <a:tr h="396240">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DiemChiTieu</a:t>
                      </a:r>
                      <a:endParaRPr lang="en-US" sz="13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Điểm chi tiêu do siêu thị chấm (1–100)</a:t>
                      </a:r>
                      <a:endParaRPr lang="en-US" sz="13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1300" dirty="0">
                          <a:solidFill>
                            <a:srgbClr val="000000"/>
                          </a:solidFill>
                          <a:latin typeface="Calibri" pitchFamily="34" charset="0"/>
                          <a:ea typeface="Calibri" pitchFamily="34" charset="-122"/>
                          <a:cs typeface="Calibri" pitchFamily="34" charset="-120"/>
                        </a:rPr>
                        <a:t>Số nguyên</a:t>
                      </a:r>
                      <a:endParaRPr lang="en-US" sz="13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7" name="Text 14"/>
          <p:cNvSpPr/>
          <p:nvPr/>
        </p:nvSpPr>
        <p:spPr>
          <a:xfrm>
            <a:off x="457200" y="4828032"/>
            <a:ext cx="8229600" cy="228600"/>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Nguồn: Kaggle – Mall Customer Segmentation Data (Vijay Choudhary)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Cơ sở lý thuyết</a:t>
            </a:r>
            <a:endParaRPr lang="en-US" sz="3000" dirty="0"/>
          </a:p>
        </p:txBody>
      </p:sp>
      <p:sp>
        <p:nvSpPr>
          <p:cNvPr id="3" name="Shape 1"/>
          <p:cNvSpPr/>
          <p:nvPr/>
        </p:nvSpPr>
        <p:spPr>
          <a:xfrm>
            <a:off x="457200" y="822960"/>
            <a:ext cx="8229600" cy="36576"/>
          </a:xfrm>
          <a:prstGeom prst="rect">
            <a:avLst/>
          </a:prstGeom>
          <a:solidFill>
            <a:srgbClr val="2563EB"/>
          </a:solidFill>
          <a:ln w="12700">
            <a:solidFill>
              <a:srgbClr val="2563EB"/>
            </a:solidFill>
            <a:prstDash val="solid"/>
          </a:ln>
        </p:spPr>
      </p:sp>
      <p:sp>
        <p:nvSpPr>
          <p:cNvPr id="4" name="Shape 2"/>
          <p:cNvSpPr/>
          <p:nvPr/>
        </p:nvSpPr>
        <p:spPr>
          <a:xfrm>
            <a:off x="457200" y="1005840"/>
            <a:ext cx="3931920" cy="1508760"/>
          </a:xfrm>
          <a:prstGeom prst="roundRect">
            <a:avLst>
              <a:gd name="adj" fmla="val 4848"/>
            </a:avLst>
          </a:prstGeom>
          <a:solidFill>
            <a:srgbClr val="FFFFFF"/>
          </a:solidFill>
          <a:ln/>
          <a:effectLst>
            <a:outerShdw blurRad="101600" dist="25400" dir="2700000" algn="bl" rotWithShape="0">
              <a:srgbClr val="000000">
                <a:alpha val="10000"/>
              </a:srgbClr>
            </a:outerShdw>
          </a:effectLst>
        </p:spPr>
      </p:sp>
      <p:sp>
        <p:nvSpPr>
          <p:cNvPr id="5" name="Text 3"/>
          <p:cNvSpPr/>
          <p:nvPr/>
        </p:nvSpPr>
        <p:spPr>
          <a:xfrm>
            <a:off x="640080" y="1143000"/>
            <a:ext cx="3566160" cy="384048"/>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Khoa học dữ liệu</a:t>
            </a:r>
            <a:endParaRPr lang="en-US" sz="1500" dirty="0"/>
          </a:p>
        </p:txBody>
      </p:sp>
      <p:sp>
        <p:nvSpPr>
          <p:cNvPr id="6" name="Text 4"/>
          <p:cNvSpPr/>
          <p:nvPr/>
        </p:nvSpPr>
        <p:spPr>
          <a:xfrm>
            <a:off x="640080" y="1527048"/>
            <a:ext cx="3566160" cy="868680"/>
          </a:xfrm>
          <a:prstGeom prst="rect">
            <a:avLst/>
          </a:prstGeom>
          <a:noFill/>
          <a:ln/>
        </p:spPr>
        <p:txBody>
          <a:bodyPr wrap="square" lIns="0" tIns="0" rIns="0" bIns="0" rtlCol="0" anchor="t"/>
          <a:lstStyle/>
          <a:p>
            <a:pPr marL="0" indent="0">
              <a:buNone/>
            </a:pPr>
            <a:r>
              <a:rPr lang="en-US" sz="1300" dirty="0">
                <a:solidFill>
                  <a:srgbClr val="1E2761"/>
                </a:solidFill>
                <a:latin typeface="Calibri" pitchFamily="34" charset="0"/>
                <a:ea typeface="Calibri" pitchFamily="34" charset="-122"/>
                <a:cs typeface="Calibri" pitchFamily="34" charset="-120"/>
              </a:rPr>
              <a:t>Lĩnh vực liên ngành kết hợp thống kê, toán học, KHMT để trích xuất tri thức từ dữ liệu</a:t>
            </a:r>
            <a:endParaRPr lang="en-US" sz="1300" dirty="0"/>
          </a:p>
        </p:txBody>
      </p:sp>
      <p:sp>
        <p:nvSpPr>
          <p:cNvPr id="7" name="Shape 5"/>
          <p:cNvSpPr/>
          <p:nvPr/>
        </p:nvSpPr>
        <p:spPr>
          <a:xfrm>
            <a:off x="4800600" y="1005840"/>
            <a:ext cx="3931920" cy="1508760"/>
          </a:xfrm>
          <a:prstGeom prst="roundRect">
            <a:avLst>
              <a:gd name="adj" fmla="val 4848"/>
            </a:avLst>
          </a:prstGeom>
          <a:solidFill>
            <a:srgbClr val="FFFFFF"/>
          </a:solidFill>
          <a:ln/>
          <a:effectLst>
            <a:outerShdw blurRad="101600" dist="25400" dir="2700000" algn="bl" rotWithShape="0">
              <a:srgbClr val="000000">
                <a:alpha val="10000"/>
              </a:srgbClr>
            </a:outerShdw>
          </a:effectLst>
        </p:spPr>
      </p:sp>
      <p:sp>
        <p:nvSpPr>
          <p:cNvPr id="8" name="Text 6"/>
          <p:cNvSpPr/>
          <p:nvPr/>
        </p:nvSpPr>
        <p:spPr>
          <a:xfrm>
            <a:off x="4983480" y="1143000"/>
            <a:ext cx="3566160" cy="384048"/>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Học không giám sát</a:t>
            </a:r>
            <a:endParaRPr lang="en-US" sz="1500" dirty="0"/>
          </a:p>
        </p:txBody>
      </p:sp>
      <p:sp>
        <p:nvSpPr>
          <p:cNvPr id="9" name="Text 7"/>
          <p:cNvSpPr/>
          <p:nvPr/>
        </p:nvSpPr>
        <p:spPr>
          <a:xfrm>
            <a:off x="4983480" y="1527048"/>
            <a:ext cx="3566160" cy="868680"/>
          </a:xfrm>
          <a:prstGeom prst="rect">
            <a:avLst/>
          </a:prstGeom>
          <a:noFill/>
          <a:ln/>
        </p:spPr>
        <p:txBody>
          <a:bodyPr wrap="square" lIns="0" tIns="0" rIns="0" bIns="0" rtlCol="0" anchor="t"/>
          <a:lstStyle/>
          <a:p>
            <a:pPr marL="0" indent="0">
              <a:buNone/>
            </a:pPr>
            <a:r>
              <a:rPr lang="en-US" sz="1300" dirty="0">
                <a:solidFill>
                  <a:srgbClr val="1E2761"/>
                </a:solidFill>
                <a:latin typeface="Calibri" pitchFamily="34" charset="0"/>
                <a:ea typeface="Calibri" pitchFamily="34" charset="-122"/>
                <a:cs typeface="Calibri" pitchFamily="34" charset="-120"/>
              </a:rPr>
              <a:t>Tự khám phá cấu trúc dữ liệu chưa có nhãn → bài toán Phân cụm (Clustering)</a:t>
            </a:r>
            <a:endParaRPr lang="en-US" sz="1300" dirty="0"/>
          </a:p>
        </p:txBody>
      </p:sp>
      <p:sp>
        <p:nvSpPr>
          <p:cNvPr id="10" name="Shape 8"/>
          <p:cNvSpPr/>
          <p:nvPr/>
        </p:nvSpPr>
        <p:spPr>
          <a:xfrm>
            <a:off x="457200" y="2697480"/>
            <a:ext cx="3931920" cy="1508760"/>
          </a:xfrm>
          <a:prstGeom prst="roundRect">
            <a:avLst>
              <a:gd name="adj" fmla="val 4848"/>
            </a:avLst>
          </a:prstGeom>
          <a:solidFill>
            <a:srgbClr val="FFFFFF"/>
          </a:solidFill>
          <a:ln/>
          <a:effectLst>
            <a:outerShdw blurRad="101600" dist="25400" dir="2700000" algn="bl" rotWithShape="0">
              <a:srgbClr val="000000">
                <a:alpha val="10000"/>
              </a:srgbClr>
            </a:outerShdw>
          </a:effectLst>
        </p:spPr>
      </p:sp>
      <p:sp>
        <p:nvSpPr>
          <p:cNvPr id="11" name="Text 9"/>
          <p:cNvSpPr/>
          <p:nvPr/>
        </p:nvSpPr>
        <p:spPr>
          <a:xfrm>
            <a:off x="640080" y="2834640"/>
            <a:ext cx="3566160" cy="384048"/>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Học có giám sát</a:t>
            </a:r>
            <a:endParaRPr lang="en-US" sz="1500" dirty="0"/>
          </a:p>
        </p:txBody>
      </p:sp>
      <p:sp>
        <p:nvSpPr>
          <p:cNvPr id="12" name="Text 10"/>
          <p:cNvSpPr/>
          <p:nvPr/>
        </p:nvSpPr>
        <p:spPr>
          <a:xfrm>
            <a:off x="640080" y="3218688"/>
            <a:ext cx="3566160" cy="868680"/>
          </a:xfrm>
          <a:prstGeom prst="rect">
            <a:avLst/>
          </a:prstGeom>
          <a:noFill/>
          <a:ln/>
        </p:spPr>
        <p:txBody>
          <a:bodyPr wrap="square" lIns="0" tIns="0" rIns="0" bIns="0" rtlCol="0" anchor="t"/>
          <a:lstStyle/>
          <a:p>
            <a:pPr marL="0" indent="0">
              <a:buNone/>
            </a:pPr>
            <a:r>
              <a:rPr lang="en-US" sz="1300" dirty="0">
                <a:solidFill>
                  <a:srgbClr val="1E2761"/>
                </a:solidFill>
                <a:latin typeface="Calibri" pitchFamily="34" charset="0"/>
                <a:ea typeface="Calibri" pitchFamily="34" charset="-122"/>
                <a:cs typeface="Calibri" pitchFamily="34" charset="-120"/>
              </a:rPr>
              <a:t>Học từ dữ liệu đã có nhãn để dự đoán → bài toán Phân lớp (Classification)</a:t>
            </a:r>
            <a:endParaRPr lang="en-US" sz="1300" dirty="0"/>
          </a:p>
        </p:txBody>
      </p:sp>
      <p:sp>
        <p:nvSpPr>
          <p:cNvPr id="13" name="Shape 11"/>
          <p:cNvSpPr/>
          <p:nvPr/>
        </p:nvSpPr>
        <p:spPr>
          <a:xfrm>
            <a:off x="4800600" y="2697480"/>
            <a:ext cx="3931920" cy="1508760"/>
          </a:xfrm>
          <a:prstGeom prst="roundRect">
            <a:avLst>
              <a:gd name="adj" fmla="val 4848"/>
            </a:avLst>
          </a:prstGeom>
          <a:solidFill>
            <a:srgbClr val="FFFFFF"/>
          </a:solidFill>
          <a:ln/>
          <a:effectLst>
            <a:outerShdw blurRad="101600" dist="25400" dir="2700000" algn="bl" rotWithShape="0">
              <a:srgbClr val="000000">
                <a:alpha val="10000"/>
              </a:srgbClr>
            </a:outerShdw>
          </a:effectLst>
        </p:spPr>
      </p:sp>
      <p:sp>
        <p:nvSpPr>
          <p:cNvPr id="14" name="Text 12"/>
          <p:cNvSpPr/>
          <p:nvPr/>
        </p:nvSpPr>
        <p:spPr>
          <a:xfrm>
            <a:off x="4983480" y="2834640"/>
            <a:ext cx="3566160" cy="384048"/>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Chuẩn hóa Z-score</a:t>
            </a:r>
            <a:endParaRPr lang="en-US" sz="1500" dirty="0"/>
          </a:p>
        </p:txBody>
      </p:sp>
      <p:sp>
        <p:nvSpPr>
          <p:cNvPr id="15" name="Text 13"/>
          <p:cNvSpPr/>
          <p:nvPr/>
        </p:nvSpPr>
        <p:spPr>
          <a:xfrm>
            <a:off x="4983480" y="3218688"/>
            <a:ext cx="3566160" cy="868680"/>
          </a:xfrm>
          <a:prstGeom prst="rect">
            <a:avLst/>
          </a:prstGeom>
          <a:noFill/>
          <a:ln/>
        </p:spPr>
        <p:txBody>
          <a:bodyPr wrap="square" lIns="0" tIns="0" rIns="0" bIns="0" rtlCol="0" anchor="t"/>
          <a:lstStyle/>
          <a:p>
            <a:pPr marL="0" indent="0">
              <a:buNone/>
            </a:pPr>
            <a:r>
              <a:rPr lang="en-US" sz="1300" dirty="0">
                <a:solidFill>
                  <a:srgbClr val="1E2761"/>
                </a:solidFill>
                <a:latin typeface="Calibri" pitchFamily="34" charset="0"/>
                <a:ea typeface="Calibri" pitchFamily="34" charset="-122"/>
                <a:cs typeface="Calibri" pitchFamily="34" charset="-120"/>
              </a:rPr>
              <a:t>Đưa các đặc trưng về cùng thang đo (mean=0, std=1) trước khi chạy K-Means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Thuật toán Cây quyết định (Decision Tree)</a:t>
            </a:r>
            <a:endParaRPr lang="en-US" sz="3000" dirty="0"/>
          </a:p>
        </p:txBody>
      </p:sp>
      <p:sp>
        <p:nvSpPr>
          <p:cNvPr id="3" name="Shape 1"/>
          <p:cNvSpPr/>
          <p:nvPr/>
        </p:nvSpPr>
        <p:spPr>
          <a:xfrm>
            <a:off x="457200" y="822960"/>
            <a:ext cx="8229600" cy="36576"/>
          </a:xfrm>
          <a:prstGeom prst="rect">
            <a:avLst/>
          </a:prstGeom>
          <a:solidFill>
            <a:srgbClr val="2563EB"/>
          </a:solidFill>
          <a:ln w="12700">
            <a:solidFill>
              <a:srgbClr val="2563EB"/>
            </a:solidFill>
            <a:prstDash val="solid"/>
          </a:ln>
        </p:spPr>
      </p:sp>
      <p:sp>
        <p:nvSpPr>
          <p:cNvPr id="7" name="Shape 5"/>
          <p:cNvSpPr/>
          <p:nvPr/>
        </p:nvSpPr>
        <p:spPr>
          <a:xfrm>
            <a:off x="4663440" y="1005840"/>
            <a:ext cx="4023360" cy="1691640"/>
          </a:xfrm>
          <a:prstGeom prst="roundRect">
            <a:avLst>
              <a:gd name="adj" fmla="val 4324"/>
            </a:avLst>
          </a:prstGeom>
          <a:solidFill>
            <a:srgbClr val="FFFFFF"/>
          </a:solidFill>
          <a:ln/>
          <a:effectLst>
            <a:outerShdw blurRad="101600" dist="25400" dir="2700000" algn="bl" rotWithShape="0">
              <a:srgbClr val="000000">
                <a:alpha val="10000"/>
              </a:srgbClr>
            </a:outerShdw>
          </a:effectLst>
        </p:spPr>
      </p:sp>
      <p:sp>
        <p:nvSpPr>
          <p:cNvPr id="8" name="Text 6"/>
          <p:cNvSpPr/>
          <p:nvPr/>
        </p:nvSpPr>
        <p:spPr>
          <a:xfrm>
            <a:off x="4846320" y="1097280"/>
            <a:ext cx="3657600" cy="347472"/>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Phân chia dữ liệu</a:t>
            </a:r>
            <a:endParaRPr lang="en-US" sz="1400" dirty="0"/>
          </a:p>
        </p:txBody>
      </p:sp>
      <p:graphicFrame>
        <p:nvGraphicFramePr>
          <p:cNvPr id="9" name="Chart 0"/>
          <p:cNvGraphicFramePr/>
          <p:nvPr/>
        </p:nvGraphicFramePr>
        <p:xfrm>
          <a:off x="4663440" y="1463040"/>
          <a:ext cx="4023360" cy="1143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4663440" y="2834640"/>
            <a:ext cx="4023360" cy="1920240"/>
          </a:xfrm>
          <a:prstGeom prst="roundRect">
            <a:avLst>
              <a:gd name="adj" fmla="val 3810"/>
            </a:avLst>
          </a:prstGeom>
          <a:solidFill>
            <a:srgbClr val="FFFFFF"/>
          </a:solidFill>
          <a:ln/>
          <a:effectLst>
            <a:outerShdw blurRad="101600" dist="25400" dir="2700000" algn="bl" rotWithShape="0">
              <a:srgbClr val="000000">
                <a:alpha val="10000"/>
              </a:srgbClr>
            </a:outerShdw>
          </a:effectLst>
        </p:spPr>
      </p:sp>
      <p:sp>
        <p:nvSpPr>
          <p:cNvPr id="11" name="Text 8"/>
          <p:cNvSpPr/>
          <p:nvPr/>
        </p:nvSpPr>
        <p:spPr>
          <a:xfrm>
            <a:off x="4846320" y="2926080"/>
            <a:ext cx="3657600" cy="347472"/>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Kết quả đánh giá</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754880" y="3310128"/>
          <a:ext cx="3840480" cy="1371600"/>
        </p:xfrm>
        <a:graphic>
          <a:graphicData uri="http://schemas.openxmlformats.org/drawingml/2006/table">
            <a:tbl>
              <a:tblPr/>
              <a:tblGrid>
                <a:gridCol w="20116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26517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Độ đo</a:t>
                      </a:r>
                      <a:endParaRPr lang="en-US" sz="12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Kết quả</a:t>
                      </a:r>
                      <a:endParaRPr lang="en-US" sz="12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65176">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86%</a:t>
                      </a:r>
                      <a:endParaRPr lang="en-US" sz="12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10001"/>
                  </a:ext>
                </a:extLst>
              </a:tr>
              <a:tr h="265176">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Thu nhập</a:t>
                      </a:r>
                      <a:endParaRPr lang="en-US" sz="12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70.1% quan trọng</a:t>
                      </a:r>
                      <a:endParaRPr lang="en-US" sz="12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10002"/>
                  </a:ext>
                </a:extLst>
              </a:tr>
              <a:tr h="265176">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Tuổi</a:t>
                      </a:r>
                      <a:endParaRPr lang="en-US" sz="12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29.9% quan trọng</a:t>
                      </a:r>
                      <a:endParaRPr lang="en-US" sz="12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10003"/>
                  </a:ext>
                </a:extLst>
              </a:tr>
              <a:tr h="265176">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Giới tính</a:t>
                      </a:r>
                      <a:endParaRPr lang="en-US" sz="12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 quan trọng</a:t>
                      </a:r>
                      <a:endParaRPr lang="en-US" sz="1200" dirty="0">
                        <a:latin typeface="Calibri" charset="0"/>
                        <a:ea typeface="Calibri" charset="0"/>
                        <a:cs typeface="Calibri" charset="0"/>
                      </a:endParaRPr>
                    </a:p>
                  </a:txBody>
                  <a:tcPr>
                    <a:lnL w="6350" cap="flat" cmpd="sng" algn="ctr">
                      <a:solidFill>
                        <a:srgbClr val="D1D9F0"/>
                      </a:solidFill>
                      <a:prstDash val="solid"/>
                      <a:round/>
                      <a:headEnd type="none" w="med" len="med"/>
                      <a:tailEnd type="none" w="med" len="med"/>
                    </a:lnL>
                    <a:lnR w="6350" cap="flat" cmpd="sng" algn="ctr">
                      <a:solidFill>
                        <a:srgbClr val="D1D9F0"/>
                      </a:solidFill>
                      <a:prstDash val="solid"/>
                      <a:round/>
                      <a:headEnd type="none" w="med" len="med"/>
                      <a:tailEnd type="none" w="med" len="med"/>
                    </a:lnR>
                    <a:lnT w="6350" cap="flat" cmpd="sng" algn="ctr">
                      <a:solidFill>
                        <a:srgbClr val="D1D9F0"/>
                      </a:solidFill>
                      <a:prstDash val="solid"/>
                      <a:round/>
                      <a:headEnd type="none" w="med" len="med"/>
                      <a:tailEnd type="none" w="med" len="med"/>
                    </a:lnT>
                    <a:lnB w="6350" cap="flat" cmpd="sng" algn="ctr">
                      <a:solidFill>
                        <a:srgbClr val="D1D9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13" name="Picture 12" descr="C:\Users\Admin\AppData\Local\Microsoft\Windows\INetCache\Content.MSO\2527CFA4.tmp">
            <a:extLst>
              <a:ext uri="{FF2B5EF4-FFF2-40B4-BE49-F238E27FC236}">
                <a16:creationId xmlns:a16="http://schemas.microsoft.com/office/drawing/2014/main" id="{8D0F2AB9-961D-4D6C-BAF4-6754319C837F}"/>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387200" y="1399754"/>
            <a:ext cx="4093360" cy="298684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361188"/>
            <a:ext cx="8229600" cy="594360"/>
          </a:xfrm>
          <a:prstGeom prst="rect">
            <a:avLst/>
          </a:prstGeom>
          <a:noFill/>
          <a:ln/>
        </p:spPr>
        <p:txBody>
          <a:bodyPr wrap="square" lIns="0" tIns="0" rIns="0" bIns="0" rtlCol="0" anchor="ctr"/>
          <a:lstStyle/>
          <a:p>
            <a:r>
              <a:rPr lang="en-US" sz="2400" b="1" dirty="0" err="1">
                <a:solidFill>
                  <a:srgbClr val="1E2761"/>
                </a:solidFill>
                <a:latin typeface="Arial" panose="020B0604020202020204" pitchFamily="34" charset="0"/>
                <a:ea typeface="Cambria" pitchFamily="34" charset="-122"/>
                <a:cs typeface="Arial" panose="020B0604020202020204" pitchFamily="34" charset="0"/>
              </a:rPr>
              <a:t>Câu</a:t>
            </a:r>
            <a:r>
              <a:rPr lang="en-US" sz="2400" b="1" dirty="0">
                <a:solidFill>
                  <a:srgbClr val="1E2761"/>
                </a:solidFill>
                <a:latin typeface="Arial" panose="020B0604020202020204" pitchFamily="34" charset="0"/>
                <a:ea typeface="Cambria" pitchFamily="34" charset="-122"/>
                <a:cs typeface="Arial" panose="020B0604020202020204" pitchFamily="34" charset="0"/>
              </a:rPr>
              <a:t> 1. Phân bố độ tuổi và giới tính của khách </a:t>
            </a:r>
            <a:r>
              <a:rPr lang="en-US" sz="2400" b="1" dirty="0" err="1">
                <a:solidFill>
                  <a:srgbClr val="1E2761"/>
                </a:solidFill>
                <a:latin typeface="Arial" panose="020B0604020202020204" pitchFamily="34" charset="0"/>
                <a:ea typeface="Cambria" pitchFamily="34" charset="-122"/>
                <a:cs typeface="Arial" panose="020B0604020202020204" pitchFamily="34" charset="0"/>
              </a:rPr>
              <a:t>hàng</a:t>
            </a:r>
            <a:r>
              <a:rPr lang="en-US" sz="2400" b="1" dirty="0">
                <a:solidFill>
                  <a:srgbClr val="1E2761"/>
                </a:solidFill>
                <a:latin typeface="Arial" panose="020B0604020202020204" pitchFamily="34" charset="0"/>
                <a:ea typeface="Cambria" pitchFamily="34" charset="-122"/>
                <a:cs typeface="Arial" panose="020B0604020202020204" pitchFamily="34" charset="0"/>
              </a:rPr>
              <a:t> </a:t>
            </a:r>
            <a:r>
              <a:rPr lang="en-US" sz="2400" b="1" dirty="0" err="1">
                <a:solidFill>
                  <a:srgbClr val="1E2761"/>
                </a:solidFill>
                <a:latin typeface="Arial" panose="020B0604020202020204" pitchFamily="34" charset="0"/>
                <a:ea typeface="Cambria" pitchFamily="34" charset="-122"/>
                <a:cs typeface="Arial" panose="020B0604020202020204" pitchFamily="34" charset="0"/>
              </a:rPr>
              <a:t>diễn</a:t>
            </a:r>
            <a:r>
              <a:rPr lang="en-US" sz="2400" b="1" dirty="0">
                <a:solidFill>
                  <a:srgbClr val="1E2761"/>
                </a:solidFill>
                <a:latin typeface="Arial" panose="020B0604020202020204" pitchFamily="34" charset="0"/>
                <a:ea typeface="Cambria" pitchFamily="34" charset="-122"/>
                <a:cs typeface="Arial" panose="020B0604020202020204" pitchFamily="34" charset="0"/>
              </a:rPr>
              <a:t> ra </a:t>
            </a:r>
            <a:r>
              <a:rPr lang="en-US" sz="2400" b="1" dirty="0" err="1">
                <a:solidFill>
                  <a:srgbClr val="1E2761"/>
                </a:solidFill>
                <a:latin typeface="Arial" panose="020B0604020202020204" pitchFamily="34" charset="0"/>
                <a:ea typeface="Cambria" pitchFamily="34" charset="-122"/>
                <a:cs typeface="Arial" panose="020B0604020202020204" pitchFamily="34" charset="0"/>
              </a:rPr>
              <a:t>nh</a:t>
            </a:r>
            <a:r>
              <a:rPr lang="vi-VN" sz="2400" b="1" dirty="0">
                <a:solidFill>
                  <a:srgbClr val="1E2761"/>
                </a:solidFill>
                <a:latin typeface="Arial" panose="020B0604020202020204" pitchFamily="34" charset="0"/>
                <a:ea typeface="Cambria" pitchFamily="34" charset="-122"/>
                <a:cs typeface="Arial" panose="020B0604020202020204" pitchFamily="34" charset="0"/>
              </a:rPr>
              <a:t>ư</a:t>
            </a:r>
            <a:r>
              <a:rPr lang="en-US" sz="2400" b="1" dirty="0">
                <a:solidFill>
                  <a:srgbClr val="1E2761"/>
                </a:solidFill>
                <a:latin typeface="Arial" panose="020B0604020202020204" pitchFamily="34" charset="0"/>
                <a:ea typeface="Cambria" pitchFamily="34" charset="-122"/>
                <a:cs typeface="Arial" panose="020B0604020202020204" pitchFamily="34" charset="0"/>
              </a:rPr>
              <a:t> </a:t>
            </a:r>
            <a:r>
              <a:rPr lang="en-US" sz="2400" b="1" dirty="0" err="1">
                <a:solidFill>
                  <a:srgbClr val="1E2761"/>
                </a:solidFill>
                <a:latin typeface="Arial" panose="020B0604020202020204" pitchFamily="34" charset="0"/>
                <a:ea typeface="Cambria" pitchFamily="34" charset="-122"/>
                <a:cs typeface="Arial" panose="020B0604020202020204" pitchFamily="34" charset="0"/>
              </a:rPr>
              <a:t>thế</a:t>
            </a:r>
            <a:r>
              <a:rPr lang="en-US" sz="2400" b="1" dirty="0">
                <a:solidFill>
                  <a:srgbClr val="1E2761"/>
                </a:solidFill>
                <a:latin typeface="Arial" panose="020B0604020202020204" pitchFamily="34" charset="0"/>
                <a:ea typeface="Cambria" pitchFamily="34" charset="-122"/>
                <a:cs typeface="Arial" panose="020B0604020202020204" pitchFamily="34" charset="0"/>
              </a:rPr>
              <a:t> nào?</a:t>
            </a:r>
            <a:endParaRPr lang="en-US" sz="2400" dirty="0">
              <a:latin typeface="Arial" panose="020B0604020202020204" pitchFamily="34" charset="0"/>
              <a:cs typeface="Arial" panose="020B0604020202020204" pitchFamily="34" charset="0"/>
            </a:endParaRPr>
          </a:p>
          <a:p>
            <a:pPr marL="0" indent="0" algn="l">
              <a:buNone/>
            </a:pPr>
            <a:r>
              <a:rPr lang="en-US" sz="3000" b="1" dirty="0">
                <a:solidFill>
                  <a:srgbClr val="1E2761"/>
                </a:solidFill>
                <a:latin typeface="Cambria" pitchFamily="34" charset="0"/>
                <a:ea typeface="Cambria" pitchFamily="34" charset="-122"/>
                <a:cs typeface="Cambria" pitchFamily="34" charset="-120"/>
              </a:rPr>
              <a:t> </a:t>
            </a:r>
            <a:endParaRPr lang="en-US" sz="3000" dirty="0"/>
          </a:p>
        </p:txBody>
      </p:sp>
      <p:sp>
        <p:nvSpPr>
          <p:cNvPr id="3" name="Shape 1"/>
          <p:cNvSpPr/>
          <p:nvPr/>
        </p:nvSpPr>
        <p:spPr>
          <a:xfrm>
            <a:off x="457200" y="822960"/>
            <a:ext cx="8229600" cy="36576"/>
          </a:xfrm>
          <a:prstGeom prst="rect">
            <a:avLst/>
          </a:prstGeom>
          <a:solidFill>
            <a:srgbClr val="2563EB"/>
          </a:solidFill>
          <a:ln w="12700">
            <a:solidFill>
              <a:srgbClr val="2563EB"/>
            </a:solidFill>
            <a:prstDash val="solid"/>
          </a:ln>
        </p:spPr>
      </p:sp>
      <p:sp>
        <p:nvSpPr>
          <p:cNvPr id="5" name="Text 3"/>
          <p:cNvSpPr/>
          <p:nvPr/>
        </p:nvSpPr>
        <p:spPr>
          <a:xfrm>
            <a:off x="640079" y="1051560"/>
            <a:ext cx="5508057" cy="283464"/>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❶  Phân tích độ tuổi &amp; số l</a:t>
            </a:r>
            <a:r>
              <a:rPr lang="vi-VN" sz="1400" b="1" dirty="0">
                <a:solidFill>
                  <a:srgbClr val="1E2761"/>
                </a:solidFill>
                <a:latin typeface="Cambria" pitchFamily="34" charset="0"/>
                <a:ea typeface="Cambria" pitchFamily="34" charset="-122"/>
                <a:cs typeface="Cambria" pitchFamily="34" charset="-120"/>
              </a:rPr>
              <a:t>ư</a:t>
            </a:r>
            <a:r>
              <a:rPr lang="en-US" sz="1400" b="1" dirty="0" err="1">
                <a:solidFill>
                  <a:srgbClr val="1E2761"/>
                </a:solidFill>
                <a:latin typeface="Cambria" pitchFamily="34" charset="0"/>
                <a:ea typeface="Cambria" pitchFamily="34" charset="-122"/>
                <a:cs typeface="Cambria" pitchFamily="34" charset="-120"/>
              </a:rPr>
              <a:t>ợng</a:t>
            </a:r>
            <a:r>
              <a:rPr lang="en-US" sz="1400" b="1" dirty="0">
                <a:solidFill>
                  <a:srgbClr val="1E2761"/>
                </a:solidFill>
                <a:latin typeface="Cambria" pitchFamily="34" charset="0"/>
                <a:ea typeface="Cambria" pitchFamily="34" charset="-122"/>
                <a:cs typeface="Cambria" pitchFamily="34" charset="-120"/>
              </a:rPr>
              <a:t> khách </a:t>
            </a:r>
            <a:r>
              <a:rPr lang="en-US" sz="1400" b="1" dirty="0" err="1">
                <a:solidFill>
                  <a:srgbClr val="1E2761"/>
                </a:solidFill>
                <a:latin typeface="Cambria" pitchFamily="34" charset="0"/>
                <a:ea typeface="Cambria" pitchFamily="34" charset="-122"/>
                <a:cs typeface="Cambria" pitchFamily="34" charset="-120"/>
              </a:rPr>
              <a:t>theo</a:t>
            </a:r>
            <a:r>
              <a:rPr lang="en-US" sz="1400" b="1" dirty="0">
                <a:solidFill>
                  <a:srgbClr val="1E2761"/>
                </a:solidFill>
                <a:latin typeface="Cambria" pitchFamily="34" charset="0"/>
                <a:ea typeface="Cambria" pitchFamily="34" charset="-122"/>
                <a:cs typeface="Cambria" pitchFamily="34" charset="-120"/>
              </a:rPr>
              <a:t> giới tính</a:t>
            </a:r>
            <a:endParaRPr lang="en-US" sz="1400" dirty="0"/>
          </a:p>
        </p:txBody>
      </p:sp>
      <p:sp>
        <p:nvSpPr>
          <p:cNvPr id="7" name="Text 4"/>
          <p:cNvSpPr/>
          <p:nvPr/>
        </p:nvSpPr>
        <p:spPr>
          <a:xfrm>
            <a:off x="3740616" y="4188192"/>
            <a:ext cx="3566160" cy="64008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Nữ: 112 (56%)  |  Nam: 88 (44%)</a:t>
            </a:r>
            <a:endParaRPr lang="en-US" sz="1200" dirty="0"/>
          </a:p>
          <a:p>
            <a:pPr marL="0" indent="0">
              <a:buNone/>
            </a:pPr>
            <a:r>
              <a:rPr lang="en-US" sz="1200" dirty="0">
                <a:solidFill>
                  <a:srgbClr val="1E2761"/>
                </a:solidFill>
                <a:latin typeface="Calibri" pitchFamily="34" charset="0"/>
                <a:ea typeface="Calibri" pitchFamily="34" charset="-122"/>
                <a:cs typeface="Calibri" pitchFamily="34" charset="-120"/>
              </a:rPr>
              <a:t>Tuổi TB: 38,8  |  Tập trung 30–40 tuổi</a:t>
            </a:r>
            <a:endParaRPr lang="en-US" sz="1200" dirty="0"/>
          </a:p>
        </p:txBody>
      </p:sp>
      <p:pic>
        <p:nvPicPr>
          <p:cNvPr id="12" name="Picture 11" descr="C:\Users\Admin\AppData\Local\Microsoft\Windows\INetCache\Content.MSO\B0529B22.tmp">
            <a:extLst>
              <a:ext uri="{FF2B5EF4-FFF2-40B4-BE49-F238E27FC236}">
                <a16:creationId xmlns:a16="http://schemas.microsoft.com/office/drawing/2014/main" id="{1B05E73F-FCAF-4C0E-BBC4-F7EE82E47D6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34716" y="1531860"/>
            <a:ext cx="7351294" cy="265633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41823"/>
            <a:ext cx="8229600" cy="594360"/>
          </a:xfrm>
          <a:prstGeom prst="rect">
            <a:avLst/>
          </a:prstGeom>
          <a:noFill/>
          <a:ln/>
        </p:spPr>
        <p:txBody>
          <a:bodyPr wrap="square" lIns="0" tIns="0" rIns="0" bIns="0" rtlCol="0" anchor="ctr"/>
          <a:lstStyle/>
          <a:p>
            <a:r>
              <a:rPr lang="en-US" sz="2800" b="1" dirty="0" err="1">
                <a:solidFill>
                  <a:srgbClr val="1E2761"/>
                </a:solidFill>
                <a:latin typeface="Cambria" pitchFamily="34" charset="0"/>
                <a:ea typeface="Cambria" pitchFamily="34" charset="-122"/>
                <a:cs typeface="Cambria" pitchFamily="34" charset="-120"/>
              </a:rPr>
              <a:t>Câu</a:t>
            </a:r>
            <a:r>
              <a:rPr lang="en-US" sz="2800" b="1" dirty="0">
                <a:solidFill>
                  <a:srgbClr val="1E2761"/>
                </a:solidFill>
                <a:latin typeface="Cambria" pitchFamily="34" charset="0"/>
                <a:ea typeface="Cambria" pitchFamily="34" charset="-122"/>
                <a:cs typeface="Cambria" pitchFamily="34" charset="-120"/>
              </a:rPr>
              <a:t> 2. Thu nhập </a:t>
            </a:r>
            <a:r>
              <a:rPr lang="en-US" sz="2800" b="1" dirty="0" err="1">
                <a:solidFill>
                  <a:srgbClr val="1E2761"/>
                </a:solidFill>
                <a:latin typeface="Cambria" pitchFamily="34" charset="0"/>
                <a:ea typeface="Cambria" pitchFamily="34" charset="-122"/>
                <a:cs typeface="Cambria" pitchFamily="34" charset="-120"/>
              </a:rPr>
              <a:t>hằng</a:t>
            </a:r>
            <a:r>
              <a:rPr lang="en-US" sz="2800" b="1" dirty="0">
                <a:solidFill>
                  <a:srgbClr val="1E2761"/>
                </a:solidFill>
                <a:latin typeface="Cambria" pitchFamily="34" charset="0"/>
                <a:ea typeface="Cambria" pitchFamily="34" charset="-122"/>
                <a:cs typeface="Cambria" pitchFamily="34" charset="-120"/>
              </a:rPr>
              <a:t> năm của khách </a:t>
            </a:r>
            <a:r>
              <a:rPr lang="en-US" sz="2800" b="1" dirty="0" err="1">
                <a:solidFill>
                  <a:srgbClr val="1E2761"/>
                </a:solidFill>
                <a:latin typeface="Cambria" pitchFamily="34" charset="0"/>
                <a:ea typeface="Cambria" pitchFamily="34" charset="-122"/>
                <a:cs typeface="Cambria" pitchFamily="34" charset="-120"/>
              </a:rPr>
              <a:t>hàng</a:t>
            </a:r>
            <a:r>
              <a:rPr lang="en-US" sz="2800" b="1" dirty="0">
                <a:solidFill>
                  <a:srgbClr val="1E2761"/>
                </a:solidFill>
                <a:latin typeface="Cambria" pitchFamily="34" charset="0"/>
                <a:ea typeface="Cambria" pitchFamily="34" charset="-122"/>
                <a:cs typeface="Cambria" pitchFamily="34" charset="-120"/>
              </a:rPr>
              <a:t> phân bố ra </a:t>
            </a:r>
            <a:r>
              <a:rPr lang="en-US" sz="2800" b="1" dirty="0" err="1">
                <a:solidFill>
                  <a:srgbClr val="1E2761"/>
                </a:solidFill>
                <a:latin typeface="Cambria" pitchFamily="34" charset="0"/>
                <a:ea typeface="Cambria" pitchFamily="34" charset="-122"/>
                <a:cs typeface="Cambria" pitchFamily="34" charset="-120"/>
              </a:rPr>
              <a:t>sao</a:t>
            </a:r>
            <a:r>
              <a:rPr lang="en-US" sz="2800" b="1" dirty="0">
                <a:solidFill>
                  <a:srgbClr val="1E2761"/>
                </a:solidFill>
                <a:latin typeface="Cambria" pitchFamily="34" charset="0"/>
                <a:ea typeface="Cambria" pitchFamily="34" charset="-122"/>
                <a:cs typeface="Cambria" pitchFamily="34" charset="-120"/>
              </a:rPr>
              <a:t> ?</a:t>
            </a:r>
            <a:endParaRPr lang="en-US" sz="2800" dirty="0"/>
          </a:p>
        </p:txBody>
      </p:sp>
      <p:sp>
        <p:nvSpPr>
          <p:cNvPr id="3" name="Shape 1"/>
          <p:cNvSpPr/>
          <p:nvPr/>
        </p:nvSpPr>
        <p:spPr>
          <a:xfrm>
            <a:off x="457200" y="822960"/>
            <a:ext cx="8229600" cy="36576"/>
          </a:xfrm>
          <a:prstGeom prst="rect">
            <a:avLst/>
          </a:prstGeom>
          <a:solidFill>
            <a:srgbClr val="2563EB"/>
          </a:solidFill>
          <a:ln w="12700">
            <a:solidFill>
              <a:srgbClr val="2563EB"/>
            </a:solidFill>
            <a:prstDash val="solid"/>
          </a:ln>
        </p:spPr>
      </p:sp>
      <p:pic>
        <p:nvPicPr>
          <p:cNvPr id="18" name="Picture 17" descr="C:\Users\Admin\AppData\Local\Microsoft\Windows\INetCache\Content.MSO\13D20780.tmp">
            <a:extLst>
              <a:ext uri="{FF2B5EF4-FFF2-40B4-BE49-F238E27FC236}">
                <a16:creationId xmlns:a16="http://schemas.microsoft.com/office/drawing/2014/main" id="{73F99F74-19A7-4357-BD30-54465B14C26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091055" y="991683"/>
            <a:ext cx="4961890" cy="3160133"/>
          </a:xfrm>
          <a:prstGeom prst="rect">
            <a:avLst/>
          </a:prstGeom>
          <a:noFill/>
          <a:ln>
            <a:noFill/>
          </a:ln>
        </p:spPr>
      </p:pic>
      <p:sp>
        <p:nvSpPr>
          <p:cNvPr id="19" name="Rectangle 18">
            <a:extLst>
              <a:ext uri="{FF2B5EF4-FFF2-40B4-BE49-F238E27FC236}">
                <a16:creationId xmlns:a16="http://schemas.microsoft.com/office/drawing/2014/main" id="{A0AC389F-949F-4729-8739-727FA25C39E3}"/>
              </a:ext>
            </a:extLst>
          </p:cNvPr>
          <p:cNvSpPr/>
          <p:nvPr/>
        </p:nvSpPr>
        <p:spPr>
          <a:xfrm>
            <a:off x="2447059" y="4325371"/>
            <a:ext cx="4249881" cy="369332"/>
          </a:xfrm>
          <a:prstGeom prst="rect">
            <a:avLst/>
          </a:prstGeom>
        </p:spPr>
        <p:txBody>
          <a:bodyPr wrap="none">
            <a:spAutoFit/>
          </a:bodyPr>
          <a:lstStyle/>
          <a:p>
            <a:r>
              <a:rPr lang="en-US" dirty="0">
                <a:latin typeface="Times New Roman" panose="02020603050405020304" pitchFamily="18" charset="0"/>
                <a:ea typeface="Times New Roman" panose="02020603050405020304" pitchFamily="18" charset="0"/>
              </a:rPr>
              <a:t>Phân bố </a:t>
            </a:r>
            <a:r>
              <a:rPr lang="en-US" dirty="0" err="1">
                <a:latin typeface="Times New Roman" panose="02020603050405020304" pitchFamily="18" charset="0"/>
                <a:ea typeface="Times New Roman" panose="02020603050405020304" pitchFamily="18" charset="0"/>
              </a:rPr>
              <a:t>thu</a:t>
            </a:r>
            <a:r>
              <a:rPr lang="en-US" dirty="0">
                <a:latin typeface="Times New Roman" panose="02020603050405020304" pitchFamily="18" charset="0"/>
                <a:ea typeface="Times New Roman" panose="02020603050405020304" pitchFamily="18" charset="0"/>
              </a:rPr>
              <a:t> nhập </a:t>
            </a:r>
            <a:r>
              <a:rPr lang="en-US" dirty="0" err="1">
                <a:latin typeface="Times New Roman" panose="02020603050405020304" pitchFamily="18" charset="0"/>
                <a:ea typeface="Times New Roman" panose="02020603050405020304" pitchFamily="18" charset="0"/>
              </a:rPr>
              <a:t>hằng</a:t>
            </a:r>
            <a:r>
              <a:rPr lang="en-US" dirty="0">
                <a:latin typeface="Times New Roman" panose="02020603050405020304" pitchFamily="18" charset="0"/>
                <a:ea typeface="Times New Roman" panose="02020603050405020304" pitchFamily="18" charset="0"/>
              </a:rPr>
              <a:t> năm của khách </a:t>
            </a:r>
            <a:r>
              <a:rPr lang="en-US" dirty="0" err="1">
                <a:latin typeface="Times New Roman" panose="02020603050405020304" pitchFamily="18" charset="0"/>
                <a:ea typeface="Times New Roman" panose="02020603050405020304" pitchFamily="18" charset="0"/>
              </a:rPr>
              <a:t>hàng</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658368"/>
          </a:xfrm>
          <a:prstGeom prst="rect">
            <a:avLst/>
          </a:prstGeom>
          <a:noFill/>
          <a:ln/>
        </p:spPr>
        <p:txBody>
          <a:bodyPr wrap="square" lIns="0" tIns="0" rIns="0" bIns="0" rtlCol="0" anchor="ctr"/>
          <a:lstStyle/>
          <a:p>
            <a:pPr marL="0" indent="0" algn="l">
              <a:buNone/>
            </a:pPr>
            <a:r>
              <a:rPr lang="en-US" sz="2800" b="1" dirty="0" err="1">
                <a:solidFill>
                  <a:srgbClr val="FFFFFF"/>
                </a:solidFill>
                <a:latin typeface="Cambria" pitchFamily="34" charset="0"/>
                <a:ea typeface="Cambria" pitchFamily="34" charset="-122"/>
              </a:rPr>
              <a:t>Câu</a:t>
            </a:r>
            <a:r>
              <a:rPr lang="en-US" sz="2800" b="1" dirty="0">
                <a:solidFill>
                  <a:srgbClr val="FFFFFF"/>
                </a:solidFill>
                <a:latin typeface="Cambria" pitchFamily="34" charset="0"/>
                <a:ea typeface="Cambria" pitchFamily="34" charset="-122"/>
              </a:rPr>
              <a:t> 3. Khách </a:t>
            </a:r>
            <a:r>
              <a:rPr lang="en-US" sz="2800" b="1" dirty="0" err="1">
                <a:solidFill>
                  <a:srgbClr val="FFFFFF"/>
                </a:solidFill>
                <a:latin typeface="Cambria" pitchFamily="34" charset="0"/>
                <a:ea typeface="Cambria" pitchFamily="34" charset="-122"/>
              </a:rPr>
              <a:t>hàng</a:t>
            </a:r>
            <a:r>
              <a:rPr lang="en-US" sz="2800" b="1" dirty="0">
                <a:solidFill>
                  <a:srgbClr val="FFFFFF"/>
                </a:solidFill>
                <a:latin typeface="Cambria" pitchFamily="34" charset="0"/>
                <a:ea typeface="Cambria" pitchFamily="34" charset="-122"/>
              </a:rPr>
              <a:t> Nam hay Nữ </a:t>
            </a:r>
            <a:r>
              <a:rPr lang="en-US" sz="2800" b="1" dirty="0" err="1">
                <a:solidFill>
                  <a:srgbClr val="FFFFFF"/>
                </a:solidFill>
                <a:latin typeface="Cambria" pitchFamily="34" charset="0"/>
                <a:ea typeface="Cambria" pitchFamily="34" charset="-122"/>
              </a:rPr>
              <a:t>có</a:t>
            </a:r>
            <a:r>
              <a:rPr lang="en-US" sz="2800" b="1" dirty="0">
                <a:solidFill>
                  <a:srgbClr val="FFFFFF"/>
                </a:solidFill>
                <a:latin typeface="Cambria" pitchFamily="34" charset="0"/>
                <a:ea typeface="Cambria" pitchFamily="34" charset="-122"/>
              </a:rPr>
              <a:t> mức độ chi tiêu mạnh h</a:t>
            </a:r>
            <a:r>
              <a:rPr lang="vi-VN" sz="2800" b="1" dirty="0">
                <a:solidFill>
                  <a:srgbClr val="FFFFFF"/>
                </a:solidFill>
                <a:latin typeface="Cambria" pitchFamily="34" charset="0"/>
                <a:ea typeface="Cambria" pitchFamily="34" charset="-122"/>
              </a:rPr>
              <a:t>ơ</a:t>
            </a:r>
            <a:r>
              <a:rPr lang="en-US" sz="2800" b="1" dirty="0">
                <a:solidFill>
                  <a:srgbClr val="FFFFFF"/>
                </a:solidFill>
                <a:latin typeface="Cambria" pitchFamily="34" charset="0"/>
                <a:ea typeface="Cambria" pitchFamily="34" charset="-122"/>
              </a:rPr>
              <a:t>n ?</a:t>
            </a:r>
            <a:endParaRPr lang="en-US" sz="2800" dirty="0"/>
          </a:p>
        </p:txBody>
      </p:sp>
      <p:sp>
        <p:nvSpPr>
          <p:cNvPr id="3" name="Shape 1"/>
          <p:cNvSpPr/>
          <p:nvPr/>
        </p:nvSpPr>
        <p:spPr>
          <a:xfrm>
            <a:off x="457200" y="987552"/>
            <a:ext cx="8229600" cy="0"/>
          </a:xfrm>
          <a:prstGeom prst="line">
            <a:avLst/>
          </a:prstGeom>
          <a:noFill/>
          <a:ln w="6350">
            <a:solidFill>
              <a:srgbClr val="CADCFC"/>
            </a:solidFill>
            <a:prstDash val="solid"/>
          </a:ln>
        </p:spPr>
      </p:sp>
      <p:pic>
        <p:nvPicPr>
          <p:cNvPr id="29" name="Picture 28" descr="C:\Users\Admin\AppData\Local\Microsoft\Windows\INetCache\Content.MSO\B472598E.tmp">
            <a:extLst>
              <a:ext uri="{FF2B5EF4-FFF2-40B4-BE49-F238E27FC236}">
                <a16:creationId xmlns:a16="http://schemas.microsoft.com/office/drawing/2014/main" id="{D6510550-CDFC-4F91-8648-87AB686239D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355190" y="1157078"/>
            <a:ext cx="4433620" cy="2998870"/>
          </a:xfrm>
          <a:prstGeom prst="rect">
            <a:avLst/>
          </a:prstGeom>
          <a:noFill/>
          <a:ln>
            <a:noFill/>
          </a:ln>
        </p:spPr>
      </p:pic>
      <p:sp>
        <p:nvSpPr>
          <p:cNvPr id="30" name="Rectangle 29">
            <a:extLst>
              <a:ext uri="{FF2B5EF4-FFF2-40B4-BE49-F238E27FC236}">
                <a16:creationId xmlns:a16="http://schemas.microsoft.com/office/drawing/2014/main" id="{BA16D91D-BADF-4A81-8732-2B0B13DA20C7}"/>
              </a:ext>
            </a:extLst>
          </p:cNvPr>
          <p:cNvSpPr/>
          <p:nvPr/>
        </p:nvSpPr>
        <p:spPr>
          <a:xfrm>
            <a:off x="2950402" y="4325473"/>
            <a:ext cx="3243196" cy="369332"/>
          </a:xfrm>
          <a:prstGeom prst="rect">
            <a:avLst/>
          </a:prstGeom>
        </p:spPr>
        <p:txBody>
          <a:bodyPr wrap="none">
            <a:spAutoFit/>
          </a:bodyPr>
          <a:lstStyle/>
          <a:p>
            <a:r>
              <a:rPr lang="en-US" dirty="0">
                <a:solidFill>
                  <a:schemeClr val="bg1"/>
                </a:solidFill>
                <a:latin typeface="Times New Roman" panose="02020603050405020304" pitchFamily="18" charset="0"/>
                <a:ea typeface="Times New Roman" panose="02020603050405020304" pitchFamily="18" charset="0"/>
              </a:rPr>
              <a:t>Điểm chi tiêu phân </a:t>
            </a:r>
            <a:r>
              <a:rPr lang="en-US" dirty="0" err="1">
                <a:solidFill>
                  <a:schemeClr val="bg1"/>
                </a:solidFill>
                <a:latin typeface="Times New Roman" panose="02020603050405020304" pitchFamily="18" charset="0"/>
                <a:ea typeface="Times New Roman" panose="02020603050405020304" pitchFamily="18" charset="0"/>
              </a:rPr>
              <a:t>theo</a:t>
            </a:r>
            <a:r>
              <a:rPr lang="en-US" dirty="0">
                <a:solidFill>
                  <a:schemeClr val="bg1"/>
                </a:solidFill>
                <a:latin typeface="Times New Roman" panose="02020603050405020304" pitchFamily="18" charset="0"/>
                <a:ea typeface="Times New Roman" panose="02020603050405020304" pitchFamily="18" charset="0"/>
              </a:rPr>
              <a:t> giới tính</a:t>
            </a:r>
            <a:endParaRPr lang="en-US"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658368"/>
          </a:xfrm>
          <a:prstGeom prst="rect">
            <a:avLst/>
          </a:prstGeom>
          <a:noFill/>
          <a:ln/>
        </p:spPr>
        <p:txBody>
          <a:bodyPr wrap="square" lIns="0" tIns="0" rIns="0" bIns="0" rtlCol="0" anchor="ctr"/>
          <a:lstStyle/>
          <a:p>
            <a:pPr marL="0" indent="0" algn="l">
              <a:buNone/>
            </a:pPr>
            <a:r>
              <a:rPr lang="en-US" sz="3000" b="1" dirty="0" err="1">
                <a:solidFill>
                  <a:srgbClr val="FFFFFF"/>
                </a:solidFill>
                <a:latin typeface="Cambria" pitchFamily="34" charset="0"/>
                <a:ea typeface="Cambria" pitchFamily="34" charset="-122"/>
              </a:rPr>
              <a:t>Câu</a:t>
            </a:r>
            <a:r>
              <a:rPr lang="en-US" sz="3000" b="1" dirty="0">
                <a:solidFill>
                  <a:srgbClr val="FFFFFF"/>
                </a:solidFill>
                <a:latin typeface="Cambria" pitchFamily="34" charset="0"/>
                <a:ea typeface="Cambria" pitchFamily="34" charset="-122"/>
              </a:rPr>
              <a:t> 4. Độ tuổi </a:t>
            </a:r>
            <a:r>
              <a:rPr lang="en-US" sz="3000" b="1" dirty="0" err="1">
                <a:solidFill>
                  <a:srgbClr val="FFFFFF"/>
                </a:solidFill>
                <a:latin typeface="Cambria" pitchFamily="34" charset="0"/>
                <a:ea typeface="Cambria" pitchFamily="34" charset="-122"/>
              </a:rPr>
              <a:t>có</a:t>
            </a:r>
            <a:r>
              <a:rPr lang="en-US" sz="3000" b="1" dirty="0">
                <a:solidFill>
                  <a:srgbClr val="FFFFFF"/>
                </a:solidFill>
                <a:latin typeface="Cambria" pitchFamily="34" charset="0"/>
                <a:ea typeface="Cambria" pitchFamily="34" charset="-122"/>
              </a:rPr>
              <a:t> mức t</a:t>
            </a:r>
            <a:r>
              <a:rPr lang="vi-VN" sz="3000" b="1" dirty="0">
                <a:solidFill>
                  <a:srgbClr val="FFFFFF"/>
                </a:solidFill>
                <a:latin typeface="Cambria" pitchFamily="34" charset="0"/>
                <a:ea typeface="Cambria" pitchFamily="34" charset="-122"/>
              </a:rPr>
              <a:t>ư</a:t>
            </a:r>
            <a:r>
              <a:rPr lang="en-US" sz="3000" b="1" dirty="0" err="1">
                <a:solidFill>
                  <a:srgbClr val="FFFFFF"/>
                </a:solidFill>
                <a:latin typeface="Cambria" pitchFamily="34" charset="0"/>
                <a:ea typeface="Cambria" pitchFamily="34" charset="-122"/>
              </a:rPr>
              <a:t>ơng</a:t>
            </a:r>
            <a:r>
              <a:rPr lang="en-US" sz="3000" b="1" dirty="0">
                <a:solidFill>
                  <a:srgbClr val="FFFFFF"/>
                </a:solidFill>
                <a:latin typeface="Cambria" pitchFamily="34" charset="0"/>
                <a:ea typeface="Cambria" pitchFamily="34" charset="-122"/>
              </a:rPr>
              <a:t> </a:t>
            </a:r>
            <a:r>
              <a:rPr lang="en-US" sz="3000" b="1" dirty="0" err="1">
                <a:solidFill>
                  <a:srgbClr val="FFFFFF"/>
                </a:solidFill>
                <a:latin typeface="Cambria" pitchFamily="34" charset="0"/>
                <a:ea typeface="Cambria" pitchFamily="34" charset="-122"/>
              </a:rPr>
              <a:t>quan</a:t>
            </a:r>
            <a:r>
              <a:rPr lang="en-US" sz="3000" b="1" dirty="0">
                <a:solidFill>
                  <a:srgbClr val="FFFFFF"/>
                </a:solidFill>
                <a:latin typeface="Cambria" pitchFamily="34" charset="0"/>
                <a:ea typeface="Cambria" pitchFamily="34" charset="-122"/>
              </a:rPr>
              <a:t> nào tới chi tiêu không ?</a:t>
            </a:r>
            <a:endParaRPr lang="en-US" sz="3000" dirty="0"/>
          </a:p>
        </p:txBody>
      </p:sp>
      <p:sp>
        <p:nvSpPr>
          <p:cNvPr id="3" name="Shape 1"/>
          <p:cNvSpPr/>
          <p:nvPr/>
        </p:nvSpPr>
        <p:spPr>
          <a:xfrm>
            <a:off x="457200" y="987552"/>
            <a:ext cx="8229600" cy="0"/>
          </a:xfrm>
          <a:prstGeom prst="line">
            <a:avLst/>
          </a:prstGeom>
          <a:noFill/>
          <a:ln w="6350">
            <a:solidFill>
              <a:srgbClr val="CADCFC"/>
            </a:solidFill>
            <a:prstDash val="solid"/>
          </a:ln>
        </p:spPr>
      </p:sp>
      <p:pic>
        <p:nvPicPr>
          <p:cNvPr id="9" name="Picture 8" descr="C:\Users\Admin\AppData\Local\Microsoft\Windows\INetCache\Content.MSO\90D58CCC.tmp">
            <a:extLst>
              <a:ext uri="{FF2B5EF4-FFF2-40B4-BE49-F238E27FC236}">
                <a16:creationId xmlns:a16="http://schemas.microsoft.com/office/drawing/2014/main" id="{6893A2A6-9AC9-446E-8C30-659B81689F3D}"/>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144637" y="1289305"/>
            <a:ext cx="4854725" cy="347519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lgn="l">
              <a:buNone/>
            </a:pPr>
            <a:r>
              <a:rPr lang="en-US" sz="2600" b="1" dirty="0" err="1">
                <a:solidFill>
                  <a:srgbClr val="1E2761"/>
                </a:solidFill>
                <a:latin typeface="Cambria" pitchFamily="34" charset="0"/>
                <a:ea typeface="Cambria" pitchFamily="34" charset="-122"/>
                <a:cs typeface="Cambria" pitchFamily="34" charset="-120"/>
              </a:rPr>
              <a:t>Câu</a:t>
            </a:r>
            <a:r>
              <a:rPr lang="en-US" sz="2600" b="1" dirty="0">
                <a:solidFill>
                  <a:srgbClr val="1E2761"/>
                </a:solidFill>
                <a:latin typeface="Cambria" pitchFamily="34" charset="0"/>
                <a:ea typeface="Cambria" pitchFamily="34" charset="-122"/>
                <a:cs typeface="Cambria" pitchFamily="34" charset="-120"/>
              </a:rPr>
              <a:t> 5. Thu </a:t>
            </a:r>
            <a:r>
              <a:rPr lang="en-US" sz="2600" b="1" dirty="0" err="1">
                <a:solidFill>
                  <a:srgbClr val="1E2761"/>
                </a:solidFill>
                <a:latin typeface="Cambria" pitchFamily="34" charset="0"/>
                <a:ea typeface="Cambria" pitchFamily="34" charset="-122"/>
                <a:cs typeface="Cambria" pitchFamily="34" charset="-120"/>
              </a:rPr>
              <a:t>thập</a:t>
            </a:r>
            <a:r>
              <a:rPr lang="en-US" sz="2600" b="1" dirty="0">
                <a:solidFill>
                  <a:srgbClr val="1E2761"/>
                </a:solidFill>
                <a:latin typeface="Cambria" pitchFamily="34" charset="0"/>
                <a:ea typeface="Cambria" pitchFamily="34" charset="-122"/>
                <a:cs typeface="Cambria" pitchFamily="34" charset="-120"/>
              </a:rPr>
              <a:t> </a:t>
            </a:r>
            <a:r>
              <a:rPr lang="en-US" sz="2600" b="1" dirty="0" err="1">
                <a:solidFill>
                  <a:srgbClr val="1E2761"/>
                </a:solidFill>
                <a:latin typeface="Cambria" pitchFamily="34" charset="0"/>
                <a:ea typeface="Cambria" pitchFamily="34" charset="-122"/>
                <a:cs typeface="Cambria" pitchFamily="34" charset="-120"/>
              </a:rPr>
              <a:t>hằng</a:t>
            </a:r>
            <a:r>
              <a:rPr lang="en-US" sz="2600" b="1" dirty="0">
                <a:solidFill>
                  <a:srgbClr val="1E2761"/>
                </a:solidFill>
                <a:latin typeface="Cambria" pitchFamily="34" charset="0"/>
                <a:ea typeface="Cambria" pitchFamily="34" charset="-122"/>
                <a:cs typeface="Cambria" pitchFamily="34" charset="-120"/>
              </a:rPr>
              <a:t> năm và chi tiêu </a:t>
            </a:r>
            <a:r>
              <a:rPr lang="en-US" sz="2600" b="1" dirty="0" err="1">
                <a:solidFill>
                  <a:srgbClr val="1E2761"/>
                </a:solidFill>
                <a:latin typeface="Cambria" pitchFamily="34" charset="0"/>
                <a:ea typeface="Cambria" pitchFamily="34" charset="-122"/>
                <a:cs typeface="Cambria" pitchFamily="34" charset="-120"/>
              </a:rPr>
              <a:t>có</a:t>
            </a:r>
            <a:r>
              <a:rPr lang="en-US" sz="2600" b="1" dirty="0">
                <a:solidFill>
                  <a:srgbClr val="1E2761"/>
                </a:solidFill>
                <a:latin typeface="Cambria" pitchFamily="34" charset="0"/>
                <a:ea typeface="Cambria" pitchFamily="34" charset="-122"/>
                <a:cs typeface="Cambria" pitchFamily="34" charset="-120"/>
              </a:rPr>
              <a:t> mối tương </a:t>
            </a:r>
            <a:r>
              <a:rPr lang="en-US" sz="2600" b="1" dirty="0" err="1">
                <a:solidFill>
                  <a:srgbClr val="1E2761"/>
                </a:solidFill>
                <a:latin typeface="Cambria" pitchFamily="34" charset="0"/>
                <a:ea typeface="Cambria" pitchFamily="34" charset="-122"/>
                <a:cs typeface="Cambria" pitchFamily="34" charset="-120"/>
              </a:rPr>
              <a:t>quan</a:t>
            </a:r>
            <a:r>
              <a:rPr lang="en-US" sz="2600" b="1" dirty="0">
                <a:solidFill>
                  <a:srgbClr val="1E2761"/>
                </a:solidFill>
                <a:latin typeface="Cambria" pitchFamily="34" charset="0"/>
                <a:ea typeface="Cambria" pitchFamily="34" charset="-122"/>
                <a:cs typeface="Cambria" pitchFamily="34" charset="-120"/>
              </a:rPr>
              <a:t> </a:t>
            </a:r>
            <a:r>
              <a:rPr lang="en-US" sz="2600" b="1" dirty="0" err="1">
                <a:solidFill>
                  <a:srgbClr val="1E2761"/>
                </a:solidFill>
                <a:latin typeface="Cambria" pitchFamily="34" charset="0"/>
                <a:ea typeface="Cambria" pitchFamily="34" charset="-122"/>
                <a:cs typeface="Cambria" pitchFamily="34" charset="-120"/>
              </a:rPr>
              <a:t>tuyến</a:t>
            </a:r>
            <a:r>
              <a:rPr lang="en-US" sz="2600" b="1" dirty="0">
                <a:solidFill>
                  <a:srgbClr val="1E2761"/>
                </a:solidFill>
                <a:latin typeface="Cambria" pitchFamily="34" charset="0"/>
                <a:ea typeface="Cambria" pitchFamily="34" charset="-122"/>
                <a:cs typeface="Cambria" pitchFamily="34" charset="-120"/>
              </a:rPr>
              <a:t> tính không ?</a:t>
            </a:r>
            <a:endParaRPr lang="en-US" sz="2600" dirty="0"/>
          </a:p>
        </p:txBody>
      </p:sp>
      <p:sp>
        <p:nvSpPr>
          <p:cNvPr id="3" name="Shape 1"/>
          <p:cNvSpPr/>
          <p:nvPr/>
        </p:nvSpPr>
        <p:spPr>
          <a:xfrm>
            <a:off x="457200" y="822960"/>
            <a:ext cx="8229600" cy="36576"/>
          </a:xfrm>
          <a:prstGeom prst="rect">
            <a:avLst/>
          </a:prstGeom>
          <a:solidFill>
            <a:srgbClr val="2563EB"/>
          </a:solidFill>
          <a:ln w="12700">
            <a:solidFill>
              <a:srgbClr val="2563EB"/>
            </a:solidFill>
            <a:prstDash val="solid"/>
          </a:ln>
        </p:spPr>
      </p:sp>
      <p:pic>
        <p:nvPicPr>
          <p:cNvPr id="13" name="Picture 12" descr="C:\Users\Admin\AppData\Local\Microsoft\Windows\INetCache\Content.MSO\7C4CA8BA.tmp">
            <a:extLst>
              <a:ext uri="{FF2B5EF4-FFF2-40B4-BE49-F238E27FC236}">
                <a16:creationId xmlns:a16="http://schemas.microsoft.com/office/drawing/2014/main" id="{41C6051E-9447-411F-95A8-4519A105258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269047" y="1137942"/>
            <a:ext cx="4605905" cy="372919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Admin\AppData\Local\Microsoft\Windows\INetCache\Content.MSO\3A07A0D8.tmp">
            <a:extLst>
              <a:ext uri="{FF2B5EF4-FFF2-40B4-BE49-F238E27FC236}">
                <a16:creationId xmlns:a16="http://schemas.microsoft.com/office/drawing/2014/main" id="{C1C4BA72-CF02-46B2-9972-B8B388B3414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24851" y="1416719"/>
            <a:ext cx="4283242" cy="2767263"/>
          </a:xfrm>
          <a:prstGeom prst="rect">
            <a:avLst/>
          </a:prstGeom>
          <a:noFill/>
          <a:ln>
            <a:noFill/>
          </a:ln>
        </p:spPr>
      </p:pic>
      <p:sp>
        <p:nvSpPr>
          <p:cNvPr id="4" name="Rectangle 3">
            <a:extLst>
              <a:ext uri="{FF2B5EF4-FFF2-40B4-BE49-F238E27FC236}">
                <a16:creationId xmlns:a16="http://schemas.microsoft.com/office/drawing/2014/main" id="{EAE00BA6-D96A-4CB1-A2D7-4F545DEEACC6}"/>
              </a:ext>
            </a:extLst>
          </p:cNvPr>
          <p:cNvSpPr/>
          <p:nvPr/>
        </p:nvSpPr>
        <p:spPr>
          <a:xfrm>
            <a:off x="264694" y="210553"/>
            <a:ext cx="8193505" cy="523220"/>
          </a:xfrm>
          <a:prstGeom prst="rect">
            <a:avLst/>
          </a:prstGeom>
        </p:spPr>
        <p:txBody>
          <a:bodyPr wrap="square">
            <a:spAutoFit/>
          </a:bodyPr>
          <a:lstStyle/>
          <a:p>
            <a:r>
              <a:rPr lang="en-US" sz="2800" b="1" dirty="0">
                <a:solidFill>
                  <a:srgbClr val="1E2761"/>
                </a:solidFill>
                <a:latin typeface="Cambria" pitchFamily="34" charset="0"/>
                <a:ea typeface="Cambria" pitchFamily="34" charset="-122"/>
                <a:cs typeface="Cambria" pitchFamily="34" charset="-120"/>
              </a:rPr>
              <a:t>Phân </a:t>
            </a:r>
            <a:r>
              <a:rPr lang="en-US" sz="2800" b="1" dirty="0" err="1">
                <a:solidFill>
                  <a:srgbClr val="1E2761"/>
                </a:solidFill>
                <a:latin typeface="Cambria" pitchFamily="34" charset="0"/>
                <a:ea typeface="Cambria" pitchFamily="34" charset="-122"/>
                <a:cs typeface="Cambria" pitchFamily="34" charset="-120"/>
              </a:rPr>
              <a:t>cụm</a:t>
            </a:r>
            <a:r>
              <a:rPr lang="en-US" sz="2800" b="1" dirty="0">
                <a:solidFill>
                  <a:srgbClr val="1E2761"/>
                </a:solidFill>
                <a:latin typeface="Cambria" pitchFamily="34" charset="0"/>
                <a:ea typeface="Cambria" pitchFamily="34" charset="-122"/>
                <a:cs typeface="Cambria" pitchFamily="34" charset="-120"/>
              </a:rPr>
              <a:t> khách </a:t>
            </a:r>
            <a:r>
              <a:rPr lang="en-US" sz="2800" b="1" dirty="0" err="1">
                <a:solidFill>
                  <a:srgbClr val="1E2761"/>
                </a:solidFill>
                <a:latin typeface="Cambria" pitchFamily="34" charset="0"/>
                <a:ea typeface="Cambria" pitchFamily="34" charset="-122"/>
                <a:cs typeface="Cambria" pitchFamily="34" charset="-120"/>
              </a:rPr>
              <a:t>hàng</a:t>
            </a:r>
            <a:r>
              <a:rPr lang="en-US" sz="2800" b="1" dirty="0">
                <a:solidFill>
                  <a:srgbClr val="1E2761"/>
                </a:solidFill>
                <a:latin typeface="Cambria" pitchFamily="34" charset="0"/>
                <a:ea typeface="Cambria" pitchFamily="34" charset="-122"/>
                <a:cs typeface="Cambria" pitchFamily="34" charset="-120"/>
              </a:rPr>
              <a:t> bằng thuật toán K-Means</a:t>
            </a:r>
            <a:endParaRPr lang="en-US" sz="2800" dirty="0"/>
          </a:p>
        </p:txBody>
      </p:sp>
      <p:sp>
        <p:nvSpPr>
          <p:cNvPr id="5" name="Shape 1">
            <a:extLst>
              <a:ext uri="{FF2B5EF4-FFF2-40B4-BE49-F238E27FC236}">
                <a16:creationId xmlns:a16="http://schemas.microsoft.com/office/drawing/2014/main" id="{D695A0D8-7483-4F54-8B86-7EDCDF576D35}"/>
              </a:ext>
            </a:extLst>
          </p:cNvPr>
          <p:cNvSpPr/>
          <p:nvPr/>
        </p:nvSpPr>
        <p:spPr>
          <a:xfrm>
            <a:off x="324851" y="690459"/>
            <a:ext cx="8229600" cy="36576"/>
          </a:xfrm>
          <a:prstGeom prst="rect">
            <a:avLst/>
          </a:prstGeom>
          <a:solidFill>
            <a:srgbClr val="2563EB"/>
          </a:solidFill>
          <a:ln w="12700">
            <a:solidFill>
              <a:srgbClr val="2563EB"/>
            </a:solidFill>
            <a:prstDash val="solid"/>
          </a:ln>
        </p:spPr>
      </p:sp>
      <p:pic>
        <p:nvPicPr>
          <p:cNvPr id="6" name="Picture 5" descr="C:\Users\Admin\AppData\Local\Microsoft\Windows\INetCache\Content.MSO\A43034A6.tmp">
            <a:extLst>
              <a:ext uri="{FF2B5EF4-FFF2-40B4-BE49-F238E27FC236}">
                <a16:creationId xmlns:a16="http://schemas.microsoft.com/office/drawing/2014/main" id="{51E9499D-FDD7-4122-9D4A-2DA08D0DA76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735631" y="1511175"/>
            <a:ext cx="4083518" cy="2578350"/>
          </a:xfrm>
          <a:prstGeom prst="rect">
            <a:avLst/>
          </a:prstGeom>
          <a:noFill/>
          <a:ln>
            <a:noFill/>
          </a:ln>
        </p:spPr>
      </p:pic>
    </p:spTree>
    <p:extLst>
      <p:ext uri="{BB962C8B-B14F-4D97-AF65-F5344CB8AC3E}">
        <p14:creationId xmlns:p14="http://schemas.microsoft.com/office/powerpoint/2010/main" val="3794673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658368"/>
          </a:xfrm>
          <a:prstGeom prst="rect">
            <a:avLst/>
          </a:prstGeom>
          <a:noFill/>
          <a:ln/>
        </p:spPr>
        <p:txBody>
          <a:bodyPr wrap="square" lIns="0" tIns="0" rIns="0" bIns="0"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Đề xuất chiến lược Marketing cho từng phân khúc</a:t>
            </a:r>
            <a:endParaRPr lang="en-US" sz="3200" dirty="0"/>
          </a:p>
        </p:txBody>
      </p:sp>
      <p:sp>
        <p:nvSpPr>
          <p:cNvPr id="3" name="Shape 1"/>
          <p:cNvSpPr/>
          <p:nvPr/>
        </p:nvSpPr>
        <p:spPr>
          <a:xfrm>
            <a:off x="457200" y="987552"/>
            <a:ext cx="8229600" cy="0"/>
          </a:xfrm>
          <a:prstGeom prst="line">
            <a:avLst/>
          </a:prstGeom>
          <a:noFill/>
          <a:ln w="6350">
            <a:solidFill>
              <a:srgbClr val="CADCFC"/>
            </a:solidFill>
            <a:prstDash val="solid"/>
          </a:ln>
        </p:spPr>
      </p:sp>
      <p:sp>
        <p:nvSpPr>
          <p:cNvPr id="4" name="Shape 2"/>
          <p:cNvSpPr/>
          <p:nvPr/>
        </p:nvSpPr>
        <p:spPr>
          <a:xfrm>
            <a:off x="411480" y="1115568"/>
            <a:ext cx="8321040" cy="658368"/>
          </a:xfrm>
          <a:prstGeom prst="roundRect">
            <a:avLst>
              <a:gd name="adj" fmla="val 9722"/>
            </a:avLst>
          </a:prstGeom>
          <a:solidFill>
            <a:srgbClr val="0D1B4B"/>
          </a:solidFill>
          <a:ln w="10160">
            <a:solidFill>
              <a:srgbClr val="059669"/>
            </a:solidFill>
            <a:prstDash val="solid"/>
          </a:ln>
        </p:spPr>
      </p:sp>
      <p:sp>
        <p:nvSpPr>
          <p:cNvPr id="5" name="Text 3"/>
          <p:cNvSpPr/>
          <p:nvPr/>
        </p:nvSpPr>
        <p:spPr>
          <a:xfrm>
            <a:off x="548640" y="1170432"/>
            <a:ext cx="228600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Nhóm 1 – VIP</a:t>
            </a:r>
            <a:endParaRPr lang="en-US" sz="1300" dirty="0"/>
          </a:p>
        </p:txBody>
      </p:sp>
      <p:sp>
        <p:nvSpPr>
          <p:cNvPr id="6" name="Shape 4"/>
          <p:cNvSpPr/>
          <p:nvPr/>
        </p:nvSpPr>
        <p:spPr>
          <a:xfrm>
            <a:off x="2880360" y="1207008"/>
            <a:ext cx="0" cy="475488"/>
          </a:xfrm>
          <a:prstGeom prst="line">
            <a:avLst/>
          </a:prstGeom>
          <a:noFill/>
          <a:ln w="12700">
            <a:solidFill>
              <a:srgbClr val="059669"/>
            </a:solidFill>
            <a:prstDash val="solid"/>
          </a:ln>
        </p:spPr>
      </p:sp>
      <p:sp>
        <p:nvSpPr>
          <p:cNvPr id="7" name="Text 5"/>
          <p:cNvSpPr/>
          <p:nvPr/>
        </p:nvSpPr>
        <p:spPr>
          <a:xfrm>
            <a:off x="3017520" y="1170432"/>
            <a:ext cx="5486400" cy="548640"/>
          </a:xfrm>
          <a:prstGeom prst="rect">
            <a:avLst/>
          </a:prstGeom>
          <a:noFill/>
          <a:ln/>
        </p:spPr>
        <p:txBody>
          <a:bodyPr wrap="square" lIns="0" tIns="0" rIns="0" bIns="0" rtlCol="0" anchor="ctr"/>
          <a:lstStyle/>
          <a:p>
            <a:pPr marL="0" indent="0">
              <a:buNone/>
            </a:pPr>
            <a:r>
              <a:rPr lang="en-US" sz="1300" dirty="0">
                <a:solidFill>
                  <a:srgbClr val="C8D8F0"/>
                </a:solidFill>
                <a:latin typeface="Calibri" pitchFamily="34" charset="0"/>
                <a:ea typeface="Calibri" pitchFamily="34" charset="-122"/>
                <a:cs typeface="Calibri" pitchFamily="34" charset="-120"/>
              </a:rPr>
              <a:t>Chăm sóc đặc biệt, thẻ thành viên cao cấp, ưu đãi độc quyền</a:t>
            </a:r>
            <a:endParaRPr lang="en-US" sz="1300" dirty="0"/>
          </a:p>
        </p:txBody>
      </p:sp>
      <p:sp>
        <p:nvSpPr>
          <p:cNvPr id="8" name="Shape 6"/>
          <p:cNvSpPr/>
          <p:nvPr/>
        </p:nvSpPr>
        <p:spPr>
          <a:xfrm>
            <a:off x="411480" y="1865376"/>
            <a:ext cx="8321040" cy="658368"/>
          </a:xfrm>
          <a:prstGeom prst="roundRect">
            <a:avLst>
              <a:gd name="adj" fmla="val 9722"/>
            </a:avLst>
          </a:prstGeom>
          <a:solidFill>
            <a:srgbClr val="0D1B4B"/>
          </a:solidFill>
          <a:ln w="10160">
            <a:solidFill>
              <a:srgbClr val="7C3AED"/>
            </a:solidFill>
            <a:prstDash val="solid"/>
          </a:ln>
        </p:spPr>
      </p:sp>
      <p:sp>
        <p:nvSpPr>
          <p:cNvPr id="9" name="Text 7"/>
          <p:cNvSpPr/>
          <p:nvPr/>
        </p:nvSpPr>
        <p:spPr>
          <a:xfrm>
            <a:off x="548640" y="1920240"/>
            <a:ext cx="228600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Nhóm 3 – Dè dặt</a:t>
            </a:r>
            <a:endParaRPr lang="en-US" sz="1300" dirty="0"/>
          </a:p>
        </p:txBody>
      </p:sp>
      <p:sp>
        <p:nvSpPr>
          <p:cNvPr id="10" name="Shape 8"/>
          <p:cNvSpPr/>
          <p:nvPr/>
        </p:nvSpPr>
        <p:spPr>
          <a:xfrm>
            <a:off x="2880360" y="1956816"/>
            <a:ext cx="0" cy="475488"/>
          </a:xfrm>
          <a:prstGeom prst="line">
            <a:avLst/>
          </a:prstGeom>
          <a:noFill/>
          <a:ln w="12700">
            <a:solidFill>
              <a:srgbClr val="7C3AED"/>
            </a:solidFill>
            <a:prstDash val="solid"/>
          </a:ln>
        </p:spPr>
      </p:sp>
      <p:sp>
        <p:nvSpPr>
          <p:cNvPr id="11" name="Text 9"/>
          <p:cNvSpPr/>
          <p:nvPr/>
        </p:nvSpPr>
        <p:spPr>
          <a:xfrm>
            <a:off x="3017520" y="1920240"/>
            <a:ext cx="5486400" cy="548640"/>
          </a:xfrm>
          <a:prstGeom prst="rect">
            <a:avLst/>
          </a:prstGeom>
          <a:noFill/>
          <a:ln/>
        </p:spPr>
        <p:txBody>
          <a:bodyPr wrap="square" lIns="0" tIns="0" rIns="0" bIns="0" rtlCol="0" anchor="ctr"/>
          <a:lstStyle/>
          <a:p>
            <a:pPr marL="0" indent="0">
              <a:buNone/>
            </a:pPr>
            <a:r>
              <a:rPr lang="en-US" sz="1300" dirty="0">
                <a:solidFill>
                  <a:srgbClr val="C8D8F0"/>
                </a:solidFill>
                <a:latin typeface="Calibri" pitchFamily="34" charset="0"/>
                <a:ea typeface="Calibri" pitchFamily="34" charset="-122"/>
                <a:cs typeface="Calibri" pitchFamily="34" charset="-120"/>
              </a:rPr>
              <a:t>Kích cầu bằng quảng cáo sản phẩm cao cấp, chương trình trải nghiệm miễn phí</a:t>
            </a:r>
            <a:endParaRPr lang="en-US" sz="1300" dirty="0"/>
          </a:p>
        </p:txBody>
      </p:sp>
      <p:sp>
        <p:nvSpPr>
          <p:cNvPr id="12" name="Shape 10"/>
          <p:cNvSpPr/>
          <p:nvPr/>
        </p:nvSpPr>
        <p:spPr>
          <a:xfrm>
            <a:off x="411480" y="2615184"/>
            <a:ext cx="8321040" cy="658368"/>
          </a:xfrm>
          <a:prstGeom prst="roundRect">
            <a:avLst>
              <a:gd name="adj" fmla="val 9722"/>
            </a:avLst>
          </a:prstGeom>
          <a:solidFill>
            <a:srgbClr val="0D1B4B"/>
          </a:solidFill>
          <a:ln w="10160">
            <a:solidFill>
              <a:srgbClr val="D97706"/>
            </a:solidFill>
            <a:prstDash val="solid"/>
          </a:ln>
        </p:spPr>
      </p:sp>
      <p:sp>
        <p:nvSpPr>
          <p:cNvPr id="13" name="Text 11"/>
          <p:cNvSpPr/>
          <p:nvPr/>
        </p:nvSpPr>
        <p:spPr>
          <a:xfrm>
            <a:off x="548640" y="2670048"/>
            <a:ext cx="228600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Nhóm 2 – Trẻ mua</a:t>
            </a:r>
            <a:endParaRPr lang="en-US" sz="1300" dirty="0"/>
          </a:p>
        </p:txBody>
      </p:sp>
      <p:sp>
        <p:nvSpPr>
          <p:cNvPr id="14" name="Shape 12"/>
          <p:cNvSpPr/>
          <p:nvPr/>
        </p:nvSpPr>
        <p:spPr>
          <a:xfrm>
            <a:off x="2880360" y="2706624"/>
            <a:ext cx="0" cy="475488"/>
          </a:xfrm>
          <a:prstGeom prst="line">
            <a:avLst/>
          </a:prstGeom>
          <a:noFill/>
          <a:ln w="12700">
            <a:solidFill>
              <a:srgbClr val="D97706"/>
            </a:solidFill>
            <a:prstDash val="solid"/>
          </a:ln>
        </p:spPr>
      </p:sp>
      <p:sp>
        <p:nvSpPr>
          <p:cNvPr id="15" name="Text 13"/>
          <p:cNvSpPr/>
          <p:nvPr/>
        </p:nvSpPr>
        <p:spPr>
          <a:xfrm>
            <a:off x="3017520" y="2670048"/>
            <a:ext cx="5486400" cy="548640"/>
          </a:xfrm>
          <a:prstGeom prst="rect">
            <a:avLst/>
          </a:prstGeom>
          <a:noFill/>
          <a:ln/>
        </p:spPr>
        <p:txBody>
          <a:bodyPr wrap="square" lIns="0" tIns="0" rIns="0" bIns="0" rtlCol="0" anchor="ctr"/>
          <a:lstStyle/>
          <a:p>
            <a:pPr marL="0" indent="0">
              <a:buNone/>
            </a:pPr>
            <a:r>
              <a:rPr lang="en-US" sz="1300" dirty="0">
                <a:solidFill>
                  <a:srgbClr val="C8D8F0"/>
                </a:solidFill>
                <a:latin typeface="Calibri" pitchFamily="34" charset="0"/>
                <a:ea typeface="Calibri" pitchFamily="34" charset="-122"/>
                <a:cs typeface="Calibri" pitchFamily="34" charset="-120"/>
              </a:rPr>
              <a:t>Sản phẩm trendy, giảm giá flash sale, truyền thông mạng xã hội</a:t>
            </a:r>
            <a:endParaRPr lang="en-US" sz="1300" dirty="0"/>
          </a:p>
        </p:txBody>
      </p:sp>
      <p:sp>
        <p:nvSpPr>
          <p:cNvPr id="16" name="Shape 14"/>
          <p:cNvSpPr/>
          <p:nvPr/>
        </p:nvSpPr>
        <p:spPr>
          <a:xfrm>
            <a:off x="411480" y="3364992"/>
            <a:ext cx="8321040" cy="658368"/>
          </a:xfrm>
          <a:prstGeom prst="roundRect">
            <a:avLst>
              <a:gd name="adj" fmla="val 9722"/>
            </a:avLst>
          </a:prstGeom>
          <a:solidFill>
            <a:srgbClr val="0D1B4B"/>
          </a:solidFill>
          <a:ln w="10160">
            <a:solidFill>
              <a:srgbClr val="2563EB"/>
            </a:solidFill>
            <a:prstDash val="solid"/>
          </a:ln>
        </p:spPr>
      </p:sp>
      <p:sp>
        <p:nvSpPr>
          <p:cNvPr id="17" name="Text 15"/>
          <p:cNvSpPr/>
          <p:nvPr/>
        </p:nvSpPr>
        <p:spPr>
          <a:xfrm>
            <a:off x="548640" y="3419856"/>
            <a:ext cx="228600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Nhóm 0 – Phổ thông</a:t>
            </a:r>
            <a:endParaRPr lang="en-US" sz="1300" dirty="0"/>
          </a:p>
        </p:txBody>
      </p:sp>
      <p:sp>
        <p:nvSpPr>
          <p:cNvPr id="18" name="Shape 16"/>
          <p:cNvSpPr/>
          <p:nvPr/>
        </p:nvSpPr>
        <p:spPr>
          <a:xfrm>
            <a:off x="2880360" y="3456432"/>
            <a:ext cx="0" cy="475488"/>
          </a:xfrm>
          <a:prstGeom prst="line">
            <a:avLst/>
          </a:prstGeom>
          <a:noFill/>
          <a:ln w="12700">
            <a:solidFill>
              <a:srgbClr val="2563EB"/>
            </a:solidFill>
            <a:prstDash val="solid"/>
          </a:ln>
        </p:spPr>
      </p:sp>
      <p:sp>
        <p:nvSpPr>
          <p:cNvPr id="19" name="Text 17"/>
          <p:cNvSpPr/>
          <p:nvPr/>
        </p:nvSpPr>
        <p:spPr>
          <a:xfrm>
            <a:off x="3017520" y="3419856"/>
            <a:ext cx="5486400" cy="548640"/>
          </a:xfrm>
          <a:prstGeom prst="rect">
            <a:avLst/>
          </a:prstGeom>
          <a:noFill/>
          <a:ln/>
        </p:spPr>
        <p:txBody>
          <a:bodyPr wrap="square" lIns="0" tIns="0" rIns="0" bIns="0" rtlCol="0" anchor="ctr"/>
          <a:lstStyle/>
          <a:p>
            <a:pPr marL="0" indent="0">
              <a:buNone/>
            </a:pPr>
            <a:r>
              <a:rPr lang="en-US" sz="1300" dirty="0">
                <a:solidFill>
                  <a:srgbClr val="C8D8F0"/>
                </a:solidFill>
                <a:latin typeface="Calibri" pitchFamily="34" charset="0"/>
                <a:ea typeface="Calibri" pitchFamily="34" charset="-122"/>
                <a:cs typeface="Calibri" pitchFamily="34" charset="-120"/>
              </a:rPr>
              <a:t>Khuyến mãi đại trà, tích điểm, chương trình mua nhiều giảm nhiều</a:t>
            </a:r>
            <a:endParaRPr lang="en-US" sz="1300" dirty="0"/>
          </a:p>
        </p:txBody>
      </p:sp>
      <p:sp>
        <p:nvSpPr>
          <p:cNvPr id="20" name="Shape 18"/>
          <p:cNvSpPr/>
          <p:nvPr/>
        </p:nvSpPr>
        <p:spPr>
          <a:xfrm>
            <a:off x="411480" y="4114800"/>
            <a:ext cx="8321040" cy="658368"/>
          </a:xfrm>
          <a:prstGeom prst="roundRect">
            <a:avLst>
              <a:gd name="adj" fmla="val 9722"/>
            </a:avLst>
          </a:prstGeom>
          <a:solidFill>
            <a:srgbClr val="0D1B4B"/>
          </a:solidFill>
          <a:ln w="10160">
            <a:solidFill>
              <a:srgbClr val="DC2626"/>
            </a:solidFill>
            <a:prstDash val="solid"/>
          </a:ln>
        </p:spPr>
      </p:sp>
      <p:sp>
        <p:nvSpPr>
          <p:cNvPr id="21" name="Text 19"/>
          <p:cNvSpPr/>
          <p:nvPr/>
        </p:nvSpPr>
        <p:spPr>
          <a:xfrm>
            <a:off x="548640" y="4169664"/>
            <a:ext cx="228600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Nhóm 4 – Tiết kiệm</a:t>
            </a:r>
            <a:endParaRPr lang="en-US" sz="1300" dirty="0"/>
          </a:p>
        </p:txBody>
      </p:sp>
      <p:sp>
        <p:nvSpPr>
          <p:cNvPr id="22" name="Shape 20"/>
          <p:cNvSpPr/>
          <p:nvPr/>
        </p:nvSpPr>
        <p:spPr>
          <a:xfrm>
            <a:off x="2880360" y="4206240"/>
            <a:ext cx="0" cy="475488"/>
          </a:xfrm>
          <a:prstGeom prst="line">
            <a:avLst/>
          </a:prstGeom>
          <a:noFill/>
          <a:ln w="12700">
            <a:solidFill>
              <a:srgbClr val="DC2626"/>
            </a:solidFill>
            <a:prstDash val="solid"/>
          </a:ln>
        </p:spPr>
      </p:sp>
      <p:sp>
        <p:nvSpPr>
          <p:cNvPr id="23" name="Text 21"/>
          <p:cNvSpPr/>
          <p:nvPr/>
        </p:nvSpPr>
        <p:spPr>
          <a:xfrm>
            <a:off x="3017520" y="4169664"/>
            <a:ext cx="5486400" cy="548640"/>
          </a:xfrm>
          <a:prstGeom prst="rect">
            <a:avLst/>
          </a:prstGeom>
          <a:noFill/>
          <a:ln/>
        </p:spPr>
        <p:txBody>
          <a:bodyPr wrap="square" lIns="0" tIns="0" rIns="0" bIns="0" rtlCol="0" anchor="ctr"/>
          <a:lstStyle/>
          <a:p>
            <a:pPr marL="0" indent="0">
              <a:buNone/>
            </a:pPr>
            <a:r>
              <a:rPr lang="en-US" sz="1300" dirty="0">
                <a:solidFill>
                  <a:srgbClr val="C8D8F0"/>
                </a:solidFill>
                <a:latin typeface="Calibri" pitchFamily="34" charset="0"/>
                <a:ea typeface="Calibri" pitchFamily="34" charset="-122"/>
                <a:cs typeface="Calibri" pitchFamily="34" charset="-120"/>
              </a:rPr>
              <a:t>Combo tiết kiệm, phiếu giảm giá, thông điệp 'giá trị cho đồng tiền'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Hạn chế &amp; Hướng phát triển</a:t>
            </a:r>
            <a:endParaRPr lang="en-US" sz="3000" dirty="0"/>
          </a:p>
        </p:txBody>
      </p:sp>
      <p:sp>
        <p:nvSpPr>
          <p:cNvPr id="3" name="Shape 1"/>
          <p:cNvSpPr/>
          <p:nvPr/>
        </p:nvSpPr>
        <p:spPr>
          <a:xfrm>
            <a:off x="457200" y="822960"/>
            <a:ext cx="8229600" cy="36576"/>
          </a:xfrm>
          <a:prstGeom prst="rect">
            <a:avLst/>
          </a:prstGeom>
          <a:solidFill>
            <a:srgbClr val="2563EB"/>
          </a:solidFill>
          <a:ln w="12700">
            <a:solidFill>
              <a:srgbClr val="2563EB"/>
            </a:solidFill>
            <a:prstDash val="solid"/>
          </a:ln>
        </p:spPr>
      </p:sp>
      <p:sp>
        <p:nvSpPr>
          <p:cNvPr id="4" name="Shape 2"/>
          <p:cNvSpPr/>
          <p:nvPr/>
        </p:nvSpPr>
        <p:spPr>
          <a:xfrm>
            <a:off x="457200" y="1005840"/>
            <a:ext cx="3931920" cy="3749040"/>
          </a:xfrm>
          <a:prstGeom prst="roundRect">
            <a:avLst>
              <a:gd name="adj" fmla="val 1951"/>
            </a:avLst>
          </a:prstGeom>
          <a:solidFill>
            <a:srgbClr val="FFFFFF"/>
          </a:solidFill>
          <a:ln/>
          <a:effectLst>
            <a:outerShdw blurRad="101600" dist="25400" dir="2700000" algn="bl" rotWithShape="0">
              <a:srgbClr val="000000">
                <a:alpha val="10000"/>
              </a:srgbClr>
            </a:outerShdw>
          </a:effectLst>
        </p:spPr>
      </p:sp>
      <p:sp>
        <p:nvSpPr>
          <p:cNvPr id="5" name="Shape 3"/>
          <p:cNvSpPr/>
          <p:nvPr/>
        </p:nvSpPr>
        <p:spPr>
          <a:xfrm>
            <a:off x="457200" y="1005840"/>
            <a:ext cx="3931920" cy="475488"/>
          </a:xfrm>
          <a:prstGeom prst="roundRect">
            <a:avLst>
              <a:gd name="adj" fmla="val 15385"/>
            </a:avLst>
          </a:prstGeom>
          <a:solidFill>
            <a:srgbClr val="DC2626"/>
          </a:solidFill>
          <a:ln w="12700">
            <a:solidFill>
              <a:srgbClr val="DC2626"/>
            </a:solidFill>
            <a:prstDash val="solid"/>
          </a:ln>
        </p:spPr>
      </p:sp>
      <p:sp>
        <p:nvSpPr>
          <p:cNvPr id="6" name="Text 4"/>
          <p:cNvSpPr/>
          <p:nvPr/>
        </p:nvSpPr>
        <p:spPr>
          <a:xfrm>
            <a:off x="594360" y="1024128"/>
            <a:ext cx="3657600" cy="438912"/>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  Hạn chế của đề tài</a:t>
            </a:r>
            <a:endParaRPr lang="en-US" sz="1400" dirty="0"/>
          </a:p>
        </p:txBody>
      </p:sp>
      <p:sp>
        <p:nvSpPr>
          <p:cNvPr id="7" name="Text 5"/>
          <p:cNvSpPr/>
          <p:nvPr/>
        </p:nvSpPr>
        <p:spPr>
          <a:xfrm>
            <a:off x="594360" y="1572768"/>
            <a:ext cx="3657600" cy="3017520"/>
          </a:xfrm>
          <a:prstGeom prst="rect">
            <a:avLst/>
          </a:prstGeom>
          <a:noFill/>
          <a:ln/>
        </p:spPr>
        <p:txBody>
          <a:bodyPr wrap="square" rtlCol="0" anchor="t"/>
          <a:lstStyle/>
          <a:p>
            <a:pPr marL="342900" indent="-342900">
              <a:spcAft>
                <a:spcPts val="600"/>
              </a:spcAft>
              <a:buSzPct val="100000"/>
              <a:buChar char="•"/>
            </a:pPr>
            <a:r>
              <a:rPr lang="en-US" sz="1300" dirty="0">
                <a:solidFill>
                  <a:srgbClr val="1E2761"/>
                </a:solidFill>
                <a:latin typeface="Calibri" pitchFamily="34" charset="0"/>
                <a:ea typeface="Calibri" pitchFamily="34" charset="-122"/>
                <a:cs typeface="Calibri" pitchFamily="34" charset="-120"/>
              </a:rPr>
              <a:t>Dữ liệu nhỏ: chỉ 200 mẫu, chưa phản ánh đầy đủ thực tế</a:t>
            </a:r>
            <a:endParaRPr lang="en-US" sz="1300" dirty="0"/>
          </a:p>
          <a:p>
            <a:pPr marL="342900" indent="-342900">
              <a:spcAft>
                <a:spcPts val="600"/>
              </a:spcAft>
              <a:buSzPct val="100000"/>
              <a:buChar char="•"/>
            </a:pPr>
            <a:r>
              <a:rPr lang="en-US" sz="1300" dirty="0">
                <a:solidFill>
                  <a:srgbClr val="1E2761"/>
                </a:solidFill>
                <a:latin typeface="Calibri" pitchFamily="34" charset="0"/>
                <a:ea typeface="Calibri" pitchFamily="34" charset="-122"/>
                <a:cs typeface="Calibri" pitchFamily="34" charset="-120"/>
              </a:rPr>
              <a:t>Thuộc tính còn đơn giản (chỉ tuổi, giới tính, thu nhập)</a:t>
            </a:r>
            <a:endParaRPr lang="en-US" sz="1300" dirty="0"/>
          </a:p>
          <a:p>
            <a:pPr marL="342900" indent="-342900">
              <a:spcAft>
                <a:spcPts val="600"/>
              </a:spcAft>
              <a:buSzPct val="100000"/>
              <a:buChar char="•"/>
            </a:pPr>
            <a:r>
              <a:rPr lang="en-US" sz="1300" dirty="0">
                <a:solidFill>
                  <a:srgbClr val="1E2761"/>
                </a:solidFill>
                <a:latin typeface="Calibri" pitchFamily="34" charset="0"/>
                <a:ea typeface="Calibri" pitchFamily="34" charset="-122"/>
                <a:cs typeface="Calibri" pitchFamily="34" charset="-120"/>
              </a:rPr>
              <a:t>Chưa có dữ liệu hành vi chuyên sâu (tần suất ghé thăm, thời gian ở lại…)</a:t>
            </a:r>
            <a:endParaRPr lang="en-US" sz="1300" dirty="0"/>
          </a:p>
          <a:p>
            <a:pPr marL="342900" indent="-342900">
              <a:spcAft>
                <a:spcPts val="600"/>
              </a:spcAft>
              <a:buSzPct val="100000"/>
              <a:buChar char="•"/>
            </a:pPr>
            <a:r>
              <a:rPr lang="en-US" sz="1300" dirty="0">
                <a:solidFill>
                  <a:srgbClr val="1E2761"/>
                </a:solidFill>
                <a:latin typeface="Calibri" pitchFamily="34" charset="0"/>
                <a:ea typeface="Calibri" pitchFamily="34" charset="-122"/>
                <a:cs typeface="Calibri" pitchFamily="34" charset="-120"/>
              </a:rPr>
              <a:t>Điểm chi tiêu do siêu thị tự chấm, có thể thiếu khách quan</a:t>
            </a:r>
            <a:endParaRPr lang="en-US" sz="1300" dirty="0"/>
          </a:p>
        </p:txBody>
      </p:sp>
      <p:sp>
        <p:nvSpPr>
          <p:cNvPr id="8" name="Shape 6"/>
          <p:cNvSpPr/>
          <p:nvPr/>
        </p:nvSpPr>
        <p:spPr>
          <a:xfrm>
            <a:off x="4754880" y="1005840"/>
            <a:ext cx="3931920" cy="3749040"/>
          </a:xfrm>
          <a:prstGeom prst="roundRect">
            <a:avLst>
              <a:gd name="adj" fmla="val 1951"/>
            </a:avLst>
          </a:prstGeom>
          <a:solidFill>
            <a:srgbClr val="FFFFFF"/>
          </a:solidFill>
          <a:ln/>
          <a:effectLst>
            <a:outerShdw blurRad="101600" dist="25400" dir="2700000" algn="bl" rotWithShape="0">
              <a:srgbClr val="000000">
                <a:alpha val="10000"/>
              </a:srgbClr>
            </a:outerShdw>
          </a:effectLst>
        </p:spPr>
      </p:sp>
      <p:sp>
        <p:nvSpPr>
          <p:cNvPr id="9" name="Shape 7"/>
          <p:cNvSpPr/>
          <p:nvPr/>
        </p:nvSpPr>
        <p:spPr>
          <a:xfrm>
            <a:off x="4754880" y="1005840"/>
            <a:ext cx="3931920" cy="475488"/>
          </a:xfrm>
          <a:prstGeom prst="roundRect">
            <a:avLst>
              <a:gd name="adj" fmla="val 15385"/>
            </a:avLst>
          </a:prstGeom>
          <a:solidFill>
            <a:srgbClr val="059669"/>
          </a:solidFill>
          <a:ln w="12700">
            <a:solidFill>
              <a:srgbClr val="059669"/>
            </a:solidFill>
            <a:prstDash val="solid"/>
          </a:ln>
        </p:spPr>
      </p:sp>
      <p:sp>
        <p:nvSpPr>
          <p:cNvPr id="10" name="Text 8"/>
          <p:cNvSpPr/>
          <p:nvPr/>
        </p:nvSpPr>
        <p:spPr>
          <a:xfrm>
            <a:off x="4892040" y="1024128"/>
            <a:ext cx="3657600" cy="438912"/>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  Hướng phát triển</a:t>
            </a:r>
            <a:endParaRPr lang="en-US" sz="1400" dirty="0"/>
          </a:p>
        </p:txBody>
      </p:sp>
      <p:sp>
        <p:nvSpPr>
          <p:cNvPr id="11" name="Text 9"/>
          <p:cNvSpPr/>
          <p:nvPr/>
        </p:nvSpPr>
        <p:spPr>
          <a:xfrm>
            <a:off x="4892040" y="1572768"/>
            <a:ext cx="3657600" cy="3017520"/>
          </a:xfrm>
          <a:prstGeom prst="rect">
            <a:avLst/>
          </a:prstGeom>
          <a:noFill/>
          <a:ln/>
        </p:spPr>
        <p:txBody>
          <a:bodyPr wrap="square" rtlCol="0" anchor="t"/>
          <a:lstStyle/>
          <a:p>
            <a:pPr marL="342900" indent="-342900">
              <a:spcAft>
                <a:spcPts val="600"/>
              </a:spcAft>
              <a:buSzPct val="100000"/>
              <a:buChar char="•"/>
            </a:pPr>
            <a:r>
              <a:rPr lang="en-US" sz="1300" dirty="0">
                <a:solidFill>
                  <a:srgbClr val="1E2761"/>
                </a:solidFill>
                <a:latin typeface="Calibri" pitchFamily="34" charset="0"/>
                <a:ea typeface="Calibri" pitchFamily="34" charset="-122"/>
                <a:cs typeface="Calibri" pitchFamily="34" charset="-120"/>
              </a:rPr>
              <a:t>Mở rộng dữ liệu: thu thập từ hóa đơn, thẻ thành viên thực tế (hàng chục nghìn mẫu)</a:t>
            </a:r>
            <a:endParaRPr lang="en-US" sz="1300" dirty="0"/>
          </a:p>
          <a:p>
            <a:pPr marL="342900" indent="-342900">
              <a:spcAft>
                <a:spcPts val="600"/>
              </a:spcAft>
              <a:buSzPct val="100000"/>
              <a:buChar char="•"/>
            </a:pPr>
            <a:r>
              <a:rPr lang="en-US" sz="1300" dirty="0">
                <a:solidFill>
                  <a:srgbClr val="1E2761"/>
                </a:solidFill>
                <a:latin typeface="Calibri" pitchFamily="34" charset="0"/>
                <a:ea typeface="Calibri" pitchFamily="34" charset="-122"/>
                <a:cs typeface="Calibri" pitchFamily="34" charset="-120"/>
              </a:rPr>
              <a:t>Thử nghiệm thuật toán mạnh hơn: Random Forest, XGBoost, DBSCAN</a:t>
            </a:r>
            <a:endParaRPr lang="en-US" sz="1300" dirty="0"/>
          </a:p>
          <a:p>
            <a:pPr marL="342900" indent="-342900">
              <a:spcAft>
                <a:spcPts val="600"/>
              </a:spcAft>
              <a:buSzPct val="100000"/>
              <a:buChar char="•"/>
            </a:pPr>
            <a:r>
              <a:rPr lang="en-US" sz="1300" dirty="0">
                <a:solidFill>
                  <a:srgbClr val="1E2761"/>
                </a:solidFill>
                <a:latin typeface="Calibri" pitchFamily="34" charset="0"/>
                <a:ea typeface="Calibri" pitchFamily="34" charset="-122"/>
                <a:cs typeface="Calibri" pitchFamily="34" charset="-120"/>
              </a:rPr>
              <a:t>Tích hợp vào hệ thống CRM thời gian thực</a:t>
            </a:r>
            <a:endParaRPr lang="en-US" sz="1300" dirty="0"/>
          </a:p>
          <a:p>
            <a:pPr marL="342900" indent="-342900">
              <a:spcAft>
                <a:spcPts val="600"/>
              </a:spcAft>
              <a:buSzPct val="100000"/>
              <a:buChar char="•"/>
            </a:pPr>
            <a:r>
              <a:rPr lang="en-US" sz="1300" dirty="0">
                <a:solidFill>
                  <a:srgbClr val="1E2761"/>
                </a:solidFill>
                <a:latin typeface="Calibri" pitchFamily="34" charset="0"/>
                <a:ea typeface="Calibri" pitchFamily="34" charset="-122"/>
                <a:cs typeface="Calibri" pitchFamily="34" charset="-120"/>
              </a:rPr>
              <a:t>Kết hợp Hệ thống khuyến nghị (Recommendation System)</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a:effectLst/>
      </p:bgPr>
    </p:bg>
    <p:spTree>
      <p:nvGrpSpPr>
        <p:cNvPr id="1" name=""/>
        <p:cNvGrpSpPr/>
        <p:nvPr/>
      </p:nvGrpSpPr>
      <p:grpSpPr>
        <a:xfrm>
          <a:off x="0" y="0"/>
          <a:ext cx="0" cy="0"/>
          <a:chOff x="0" y="0"/>
          <a:chExt cx="0" cy="0"/>
        </a:xfrm>
      </p:grpSpPr>
      <p:sp>
        <p:nvSpPr>
          <p:cNvPr id="17" name="Text 15"/>
          <p:cNvSpPr/>
          <p:nvPr/>
        </p:nvSpPr>
        <p:spPr>
          <a:xfrm>
            <a:off x="1203158" y="2277337"/>
            <a:ext cx="6400800" cy="621792"/>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Xin cảm ơn thầy và các bạn đã lắng nghe! </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TotalTime>
  <Words>1704</Words>
  <Application>Microsoft Office PowerPoint</Application>
  <PresentationFormat>On-screen Show (16:9)</PresentationFormat>
  <Paragraphs>130</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khúc khách hàng trung tâm thương mại</dc:title>
  <dc:subject>PptxGenJS Presentation</dc:subject>
  <dc:creator>PptxGenJS</dc:creator>
  <cp:lastModifiedBy>Administrator</cp:lastModifiedBy>
  <cp:revision>10</cp:revision>
  <dcterms:created xsi:type="dcterms:W3CDTF">2026-06-22T12:13:03Z</dcterms:created>
  <dcterms:modified xsi:type="dcterms:W3CDTF">2026-06-22T18:50:55Z</dcterms:modified>
</cp:coreProperties>
</file>